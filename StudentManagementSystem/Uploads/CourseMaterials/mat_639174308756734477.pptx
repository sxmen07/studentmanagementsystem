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17" r:id="rId1"/>
  </p:sldMasterIdLst>
  <p:notesMasterIdLst>
    <p:notesMasterId r:id="rId50"/>
  </p:notesMasterIdLst>
  <p:handoutMasterIdLst>
    <p:handoutMasterId r:id="rId51"/>
  </p:handoutMasterIdLst>
  <p:sldIdLst>
    <p:sldId id="386" r:id="rId2"/>
    <p:sldId id="261" r:id="rId3"/>
    <p:sldId id="300" r:id="rId4"/>
    <p:sldId id="387" r:id="rId5"/>
    <p:sldId id="262" r:id="rId6"/>
    <p:sldId id="263" r:id="rId7"/>
    <p:sldId id="265" r:id="rId8"/>
    <p:sldId id="365" r:id="rId9"/>
    <p:sldId id="388" r:id="rId10"/>
    <p:sldId id="267" r:id="rId11"/>
    <p:sldId id="268" r:id="rId12"/>
    <p:sldId id="269" r:id="rId13"/>
    <p:sldId id="366" r:id="rId14"/>
    <p:sldId id="270" r:id="rId15"/>
    <p:sldId id="389" r:id="rId16"/>
    <p:sldId id="271" r:id="rId17"/>
    <p:sldId id="272" r:id="rId18"/>
    <p:sldId id="273" r:id="rId19"/>
    <p:sldId id="390" r:id="rId20"/>
    <p:sldId id="368" r:id="rId21"/>
    <p:sldId id="383" r:id="rId22"/>
    <p:sldId id="333" r:id="rId23"/>
    <p:sldId id="305" r:id="rId24"/>
    <p:sldId id="306" r:id="rId25"/>
    <p:sldId id="274" r:id="rId26"/>
    <p:sldId id="275" r:id="rId27"/>
    <p:sldId id="277" r:id="rId28"/>
    <p:sldId id="373" r:id="rId29"/>
    <p:sldId id="372" r:id="rId30"/>
    <p:sldId id="374" r:id="rId31"/>
    <p:sldId id="375" r:id="rId32"/>
    <p:sldId id="392" r:id="rId33"/>
    <p:sldId id="376" r:id="rId34"/>
    <p:sldId id="282" r:id="rId35"/>
    <p:sldId id="283" r:id="rId36"/>
    <p:sldId id="285" r:id="rId37"/>
    <p:sldId id="312" r:id="rId38"/>
    <p:sldId id="286" r:id="rId39"/>
    <p:sldId id="308" r:id="rId40"/>
    <p:sldId id="347" r:id="rId41"/>
    <p:sldId id="287" r:id="rId42"/>
    <p:sldId id="393" r:id="rId43"/>
    <p:sldId id="394" r:id="rId44"/>
    <p:sldId id="309" r:id="rId45"/>
    <p:sldId id="391" r:id="rId46"/>
    <p:sldId id="304" r:id="rId47"/>
    <p:sldId id="302" r:id="rId48"/>
    <p:sldId id="303" r:id="rId4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8DAD"/>
    <a:srgbClr val="3333FF"/>
    <a:srgbClr val="333399"/>
    <a:srgbClr val="B2B2B2"/>
    <a:srgbClr val="800000"/>
    <a:srgbClr val="996600"/>
    <a:srgbClr val="FF9999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19" autoAdjust="0"/>
    <p:restoredTop sz="94737" autoAdjust="0"/>
  </p:normalViewPr>
  <p:slideViewPr>
    <p:cSldViewPr>
      <p:cViewPr varScale="1">
        <p:scale>
          <a:sx n="89" d="100"/>
          <a:sy n="89" d="100"/>
        </p:scale>
        <p:origin x="403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21438"/>
    </p:cViewPr>
  </p:sorterViewPr>
  <p:notesViewPr>
    <p:cSldViewPr>
      <p:cViewPr varScale="1">
        <p:scale>
          <a:sx n="67" d="100"/>
          <a:sy n="67" d="100"/>
        </p:scale>
        <p:origin x="3120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F31F1-C812-4C77-880A-5D8EE5D22544}" type="datetimeFigureOut">
              <a:rPr lang="en-MY" smtClean="0"/>
              <a:t>24/3/2023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AC426-C4FB-4D45-8296-740280400EB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14084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71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1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1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71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590402D7-0EF5-4A20-A27C-6908679009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183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626C4B93-EDC4-4CA5-B076-1807B35F35CC}" type="slidenum">
              <a:rPr lang="en-US" altLang="en-US" smtClean="0"/>
              <a:pPr eaLnBrk="1" hangingPunct="1"/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37581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6938C848-85D6-4D03-A39D-00BC5AAF4E90}" type="slidenum">
              <a:rPr lang="en-US" altLang="en-US" smtClean="0"/>
              <a:pPr eaLnBrk="1" hangingPunct="1"/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71350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E8AEC292-EA1C-46E9-B407-30E2E8E1484C}" type="slidenum">
              <a:rPr lang="en-US" altLang="en-US" smtClean="0"/>
              <a:pPr eaLnBrk="1" hangingPunct="1"/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560589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5768741A-F1C0-4331-BE24-BF162253CD1B}" type="slidenum">
              <a:rPr lang="en-US" altLang="en-US" smtClean="0"/>
              <a:pPr eaLnBrk="1" hangingPunct="1"/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08090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4E7F2B24-E1A5-42AD-9601-7177719D2A5D}" type="slidenum">
              <a:rPr lang="en-US" altLang="en-US" smtClean="0"/>
              <a:pPr eaLnBrk="1" hangingPunct="1"/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17045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45E3E507-607A-46EA-8152-E1A802042458}" type="slidenum">
              <a:rPr lang="en-US" altLang="en-US" smtClean="0"/>
              <a:pPr eaLnBrk="1" hangingPunct="1"/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432906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58EBB102-4F65-4E5B-A976-B5D2BD7BDF77}" type="slidenum">
              <a:rPr lang="en-US" altLang="en-US" smtClean="0"/>
              <a:pPr eaLnBrk="1" hangingPunct="1"/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936333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F4A1852E-2B3C-4372-BCEF-29337B925455}" type="slidenum">
              <a:rPr lang="en-US" altLang="en-US" smtClean="0"/>
              <a:pPr eaLnBrk="1" hangingPunct="1"/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13270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88AC5A81-05F6-443A-977D-DC3EE79A1BBB}" type="slidenum">
              <a:rPr lang="en-US" altLang="en-US" smtClean="0"/>
              <a:pPr eaLnBrk="1" hangingPunct="1"/>
              <a:t>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78216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6EA10273-0675-4959-8959-904231842E55}" type="slidenum">
              <a:rPr lang="en-US" altLang="en-US" smtClean="0"/>
              <a:pPr eaLnBrk="1" hangingPunct="1"/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371331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F22A030C-ABEE-4E43-85B4-4C118A409FEF}" type="slidenum">
              <a:rPr lang="en-US" altLang="en-US" smtClean="0"/>
              <a:pPr eaLnBrk="1" hangingPunct="1"/>
              <a:t>11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627145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917C0D80-DE1C-494B-9881-318DBBC1C78E}" type="slidenum">
              <a:rPr lang="en-US" altLang="en-US" smtClean="0"/>
              <a:pPr eaLnBrk="1" hangingPunct="1"/>
              <a:t>12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403251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53CA9D13-569A-4D97-951F-1C028A690C66}" type="slidenum">
              <a:rPr lang="en-US" altLang="en-US" smtClean="0"/>
              <a:pPr eaLnBrk="1" hangingPunct="1"/>
              <a:t>13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918057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6DA76825-FB6F-4041-88A1-A2657A4F7881}" type="slidenum">
              <a:rPr lang="en-US" altLang="en-US" smtClean="0"/>
              <a:pPr eaLnBrk="1" hangingPunct="1"/>
              <a:t>14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174467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81EF61EE-DA89-4893-AC30-1C3193D70E22}" type="slidenum">
              <a:rPr lang="en-US" altLang="en-US" smtClean="0"/>
              <a:pPr eaLnBrk="1" hangingPunct="1"/>
              <a:t>15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506200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03CA526A-FF5D-461E-99B3-D5AEA82556DA}" type="slidenum">
              <a:rPr lang="en-US" altLang="en-US" smtClean="0"/>
              <a:pPr eaLnBrk="1" hangingPunct="1"/>
              <a:t>16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651829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85CEB6C9-7BAF-49C0-B94C-CF53F455CC89}" type="slidenum">
              <a:rPr lang="en-US" altLang="en-US" smtClean="0"/>
              <a:pPr eaLnBrk="1" hangingPunct="1"/>
              <a:t>17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306408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CE5B2624-0B93-4860-AFA5-085B8C15E229}" type="slidenum">
              <a:rPr lang="en-US" altLang="en-US" smtClean="0"/>
              <a:pPr eaLnBrk="1" hangingPunct="1"/>
              <a:t>18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09905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1205867F-B561-4E47-A70F-9FBA21A6F135}" type="slidenum">
              <a:rPr lang="en-US" altLang="en-US" smtClean="0"/>
              <a:pPr eaLnBrk="1" hangingPunct="1"/>
              <a:t>19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924603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5EB446D8-4E82-43CB-B8C8-687793AB298E}" type="slidenum">
              <a:rPr lang="en-US" altLang="en-US" smtClean="0"/>
              <a:pPr eaLnBrk="1" hangingPunct="1"/>
              <a:t>20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204850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B98AD464-FD55-4E99-8DF9-160D141879E8}" type="slidenum">
              <a:rPr lang="en-US" altLang="en-US" smtClean="0"/>
              <a:pPr eaLnBrk="1" hangingPunct="1"/>
              <a:t>21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194568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09FD972E-4922-4C49-A8E6-90349658AA05}" type="slidenum">
              <a:rPr lang="en-US" altLang="en-US" smtClean="0"/>
              <a:pPr eaLnBrk="1" hangingPunct="1"/>
              <a:t>22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616488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5369F3F0-7DF5-4D5B-8512-CBB570D9FD5A}" type="slidenum">
              <a:rPr lang="en-US" altLang="en-US" smtClean="0"/>
              <a:pPr eaLnBrk="1" hangingPunct="1"/>
              <a:t>23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199616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C6C266FD-BF65-4FBA-AD45-BB3653ED44FC}" type="slidenum">
              <a:rPr lang="en-US" altLang="en-US" smtClean="0"/>
              <a:pPr eaLnBrk="1" hangingPunct="1"/>
              <a:t>24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588456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96DD6C47-E809-49A9-93A8-AFCE23B7945C}" type="slidenum">
              <a:rPr lang="en-US" altLang="en-US" smtClean="0"/>
              <a:pPr eaLnBrk="1" hangingPunct="1"/>
              <a:t>25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428907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13D86F9A-AAD3-4D78-92B0-034A53DD1EF4}" type="slidenum">
              <a:rPr lang="en-US" altLang="en-US" smtClean="0"/>
              <a:pPr eaLnBrk="1" hangingPunct="1"/>
              <a:t>26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482909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E5C267A1-1E51-43B0-8E3C-D2144044E4DB}" type="slidenum">
              <a:rPr lang="en-US" altLang="en-US" smtClean="0"/>
              <a:pPr eaLnBrk="1" hangingPunct="1"/>
              <a:t>27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390548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403F726D-2B41-44FC-B8B3-3D64A0C8C975}" type="slidenum">
              <a:rPr lang="en-US" altLang="en-US" smtClean="0"/>
              <a:pPr eaLnBrk="1" hangingPunct="1"/>
              <a:t>28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542680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F3A1FB17-4DEF-4B0A-950F-D4C620E38D04}" type="slidenum">
              <a:rPr lang="en-US" altLang="en-US" smtClean="0"/>
              <a:pPr eaLnBrk="1" hangingPunct="1"/>
              <a:t>29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221235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6F5DA33A-B616-491B-ACB8-96B7DDA10B32}" type="slidenum">
              <a:rPr lang="en-US" altLang="en-US" smtClean="0"/>
              <a:pPr eaLnBrk="1" hangingPunct="1"/>
              <a:t>30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5555523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31407255-99CE-4692-80E8-C3F60A2611AF}" type="slidenum">
              <a:rPr lang="en-US" altLang="en-US" smtClean="0"/>
              <a:pPr eaLnBrk="1" hangingPunct="1"/>
              <a:t>31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226803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0D6E19FF-0D4A-4FBE-9BB9-DE664C13BF6A}" type="slidenum">
              <a:rPr lang="en-US" altLang="en-US" smtClean="0"/>
              <a:pPr eaLnBrk="1" hangingPunct="1"/>
              <a:t>32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101484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02036D2C-8741-4814-9A10-F48664C65BD0}" type="slidenum">
              <a:rPr lang="en-US" altLang="en-US" smtClean="0"/>
              <a:pPr eaLnBrk="1" hangingPunct="1"/>
              <a:t>33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128007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42E871B9-8B69-41DD-A295-FCC3F5F930AC}" type="slidenum">
              <a:rPr lang="en-US" altLang="en-US" smtClean="0"/>
              <a:pPr eaLnBrk="1" hangingPunct="1"/>
              <a:t>34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486703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D6812593-B8E0-4B5D-9697-BF6799A36BBF}" type="slidenum">
              <a:rPr lang="en-US" altLang="en-US" smtClean="0"/>
              <a:pPr eaLnBrk="1" hangingPunct="1"/>
              <a:t>35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899230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993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13CE38BD-5602-439F-AECE-B34CFB42BA7B}" type="slidenum">
              <a:rPr lang="en-US" altLang="en-US" smtClean="0"/>
              <a:pPr eaLnBrk="1" hangingPunct="1"/>
              <a:t>36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8799542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2FFD0C73-B525-4CEC-B866-9ADF9395AA04}" type="slidenum">
              <a:rPr lang="en-US" altLang="en-US" smtClean="0"/>
              <a:pPr eaLnBrk="1" hangingPunct="1"/>
              <a:t>37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4786429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013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8C8B43EC-5163-4292-837F-4B21E096BD52}" type="slidenum">
              <a:rPr lang="en-US" altLang="en-US" smtClean="0"/>
              <a:pPr eaLnBrk="1" hangingPunct="1"/>
              <a:t>38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699512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A54BB31B-E360-4180-9AF4-95A76F3D9694}" type="slidenum">
              <a:rPr lang="en-US" altLang="en-US" smtClean="0"/>
              <a:pPr eaLnBrk="1" hangingPunct="1"/>
              <a:t>39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3798850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F2D74349-9A1F-49BF-97B0-9AB0114BFF62}" type="slidenum">
              <a:rPr lang="en-US" altLang="en-US" smtClean="0"/>
              <a:pPr eaLnBrk="1" hangingPunct="1"/>
              <a:t>40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6868243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CCA9AE73-B114-4700-A4DE-D104206E2D1B}" type="slidenum">
              <a:rPr lang="en-US" altLang="en-US" smtClean="0"/>
              <a:pPr eaLnBrk="1" hangingPunct="1"/>
              <a:t>41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4920355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67ADEAC0-9439-4A55-882D-5DD6240049CB}" type="slidenum">
              <a:rPr lang="en-US" altLang="en-US" smtClean="0"/>
              <a:pPr eaLnBrk="1" hangingPunct="1"/>
              <a:t>44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3072167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065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7E31B9FF-5FE0-4AC1-B819-22CDA49A2293}" type="slidenum">
              <a:rPr lang="en-US" altLang="en-US" smtClean="0"/>
              <a:pPr eaLnBrk="1" hangingPunct="1"/>
              <a:t>45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656320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075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87A9343F-B644-46DB-A6DC-2E81B41D2B71}" type="slidenum">
              <a:rPr lang="en-US" altLang="en-US" smtClean="0"/>
              <a:pPr eaLnBrk="1" hangingPunct="1"/>
              <a:t>46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6215100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085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243CFB11-8F6E-4C3E-B970-4A0B9B0F3557}" type="slidenum">
              <a:rPr lang="en-US" altLang="en-US" smtClean="0"/>
              <a:pPr eaLnBrk="1" hangingPunct="1"/>
              <a:t>47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742345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095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6FEE2109-1EF4-46ED-9717-2C9B406D3379}" type="slidenum">
              <a:rPr lang="en-US" altLang="en-US" smtClean="0"/>
              <a:pPr eaLnBrk="1" hangingPunct="1"/>
              <a:t>48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55745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500" y="3090672"/>
            <a:ext cx="7747000" cy="377026"/>
          </a:xfrm>
        </p:spPr>
        <p:txBody>
          <a:bodyPr anchor="b"/>
          <a:lstStyle>
            <a:lvl1pPr algn="ctr">
              <a:defRPr sz="28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8500" y="3730752"/>
            <a:ext cx="7747000" cy="235962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1" name="Picture 10" descr="Title_Slid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4" y="254000"/>
            <a:ext cx="8713465" cy="65267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482340" y="223520"/>
            <a:ext cx="2125980" cy="985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Rules_Single_A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627124" y="481304"/>
            <a:ext cx="10034016" cy="99113"/>
          </a:xfrm>
          <a:prstGeom prst="rect">
            <a:avLst/>
          </a:prstGeom>
        </p:spPr>
      </p:pic>
      <p:pic>
        <p:nvPicPr>
          <p:cNvPr id="8" name="Picture 7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80" y="6257889"/>
            <a:ext cx="634845" cy="2624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12283" y="4885106"/>
            <a:ext cx="2080291" cy="1926127"/>
          </a:xfrm>
          <a:custGeom>
            <a:avLst/>
            <a:gdLst>
              <a:gd name="connsiteX0" fmla="*/ 0 w 1973580"/>
              <a:gd name="connsiteY0" fmla="*/ 0 h 1389864"/>
              <a:gd name="connsiteX1" fmla="*/ 1973580 w 1973580"/>
              <a:gd name="connsiteY1" fmla="*/ 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0 h 1389864"/>
              <a:gd name="connsiteX1" fmla="*/ 1935480 w 1973580"/>
              <a:gd name="connsiteY1" fmla="*/ 6096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54731 h 1444595"/>
              <a:gd name="connsiteX1" fmla="*/ 1577340 w 1973580"/>
              <a:gd name="connsiteY1" fmla="*/ 1391 h 1444595"/>
              <a:gd name="connsiteX2" fmla="*/ 1935480 w 1973580"/>
              <a:gd name="connsiteY2" fmla="*/ 115691 h 1444595"/>
              <a:gd name="connsiteX3" fmla="*/ 1973580 w 1973580"/>
              <a:gd name="connsiteY3" fmla="*/ 1444595 h 1444595"/>
              <a:gd name="connsiteX4" fmla="*/ 0 w 1973580"/>
              <a:gd name="connsiteY4" fmla="*/ 1444595 h 1444595"/>
              <a:gd name="connsiteX5" fmla="*/ 0 w 1973580"/>
              <a:gd name="connsiteY5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0 w 2080291"/>
              <a:gd name="connsiteY6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60960 w 2080291"/>
              <a:gd name="connsiteY6" fmla="*/ 103009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99060 w 2080291"/>
              <a:gd name="connsiteY6" fmla="*/ 991992 h 1444595"/>
              <a:gd name="connsiteX7" fmla="*/ 0 w 2080291"/>
              <a:gd name="connsiteY7" fmla="*/ 54731 h 144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291" h="1444595">
                <a:moveTo>
                  <a:pt x="0" y="54731"/>
                </a:moveTo>
                <a:cubicBezTo>
                  <a:pt x="520700" y="67431"/>
                  <a:pt x="1056640" y="-11309"/>
                  <a:pt x="1577340" y="1391"/>
                </a:cubicBezTo>
                <a:lnTo>
                  <a:pt x="1935480" y="115691"/>
                </a:lnTo>
                <a:cubicBezTo>
                  <a:pt x="1932940" y="209671"/>
                  <a:pt x="2082800" y="334132"/>
                  <a:pt x="2080260" y="428112"/>
                </a:cubicBezTo>
                <a:lnTo>
                  <a:pt x="1973580" y="1444595"/>
                </a:lnTo>
                <a:lnTo>
                  <a:pt x="0" y="1444595"/>
                </a:lnTo>
                <a:cubicBezTo>
                  <a:pt x="0" y="1319127"/>
                  <a:pt x="99060" y="1117460"/>
                  <a:pt x="99060" y="991992"/>
                </a:cubicBezTo>
                <a:lnTo>
                  <a:pt x="0" y="547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udio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369" y="5389519"/>
            <a:ext cx="987056" cy="104094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8674488" y="5121741"/>
            <a:ext cx="275507" cy="710099"/>
          </a:xfrm>
          <a:prstGeom prst="rect">
            <a:avLst/>
          </a:prstGeom>
        </p:spPr>
      </p:pic>
      <p:pic>
        <p:nvPicPr>
          <p:cNvPr id="13" name="Picture 12" descr="Swirl_3.png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8654">
            <a:off x="7441068" y="6393019"/>
            <a:ext cx="386047" cy="285072"/>
          </a:xfrm>
          <a:prstGeom prst="rect">
            <a:avLst/>
          </a:prstGeom>
        </p:spPr>
      </p:pic>
      <p:pic>
        <p:nvPicPr>
          <p:cNvPr id="14" name="Picture 13" descr="Swirl_3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73124">
            <a:off x="7908376" y="5449329"/>
            <a:ext cx="591497" cy="24569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39373" y="5831840"/>
            <a:ext cx="672857" cy="74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8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600" y="2228188"/>
            <a:ext cx="6172200" cy="377026"/>
          </a:xfrm>
        </p:spPr>
        <p:txBody>
          <a:bodyPr anchor="ctr"/>
          <a:lstStyle>
            <a:lvl1pPr algn="l">
              <a:defRPr sz="2800" b="0" cap="none" baseline="0">
                <a:solidFill>
                  <a:srgbClr val="055C9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2942670"/>
            <a:ext cx="6172200" cy="265457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CL_Logo_DRAWN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6" name="Picture 5" descr="Rules_Single_A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pic>
        <p:nvPicPr>
          <p:cNvPr id="4" name="Picture 3" descr="Audio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7" y="361953"/>
            <a:ext cx="1840495" cy="1940983"/>
          </a:xfrm>
          <a:prstGeom prst="rect">
            <a:avLst/>
          </a:prstGeom>
        </p:spPr>
      </p:pic>
      <p:pic>
        <p:nvPicPr>
          <p:cNvPr id="11" name="Picture 10" descr="Swirl_3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9126">
            <a:off x="1431691" y="1916271"/>
            <a:ext cx="908570" cy="670924"/>
          </a:xfrm>
          <a:prstGeom prst="rect">
            <a:avLst/>
          </a:prstGeom>
        </p:spPr>
      </p:pic>
      <p:pic>
        <p:nvPicPr>
          <p:cNvPr id="12" name="Picture 11" descr="Swirl_2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73741" flipH="1">
            <a:off x="218018" y="3551101"/>
            <a:ext cx="795867" cy="83325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879649" y="2604920"/>
            <a:ext cx="1101550" cy="122109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4" y="4534755"/>
            <a:ext cx="596838" cy="79578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737542" y="4804753"/>
            <a:ext cx="252342" cy="650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3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7" name="Picture 16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1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Split Content with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7" name="Picture 16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9" name="Content Placeholder 2"/>
          <p:cNvSpPr>
            <a:spLocks noGrp="1"/>
          </p:cNvSpPr>
          <p:nvPr>
            <p:ph idx="11"/>
          </p:nvPr>
        </p:nvSpPr>
        <p:spPr>
          <a:xfrm>
            <a:off x="365125" y="3997249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053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Tab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1" name="Picture 20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10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990600" y="1340048"/>
            <a:ext cx="6949440" cy="297004"/>
          </a:xfrm>
        </p:spPr>
        <p:txBody>
          <a:bodyPr lIns="45720" tIns="45720" rIns="45720" bIns="45720"/>
          <a:lstStyle>
            <a:lvl1pPr marL="0" indent="0">
              <a:buNone/>
              <a:defRPr sz="1400" b="0" baseline="0">
                <a:solidFill>
                  <a:srgbClr val="6A6466"/>
                </a:solidFill>
              </a:defRPr>
            </a:lvl1pPr>
          </a:lstStyle>
          <a:p>
            <a:pPr lvl="0"/>
            <a:r>
              <a:rPr lang="en-US" dirty="0"/>
              <a:t>&lt;TABLE #-# apply bold&gt; &lt;Table title normal&gt;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2"/>
          </p:nvPr>
        </p:nvSpPr>
        <p:spPr>
          <a:xfrm>
            <a:off x="365125" y="3997249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045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1" name="Picture 20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066800" y="5102423"/>
            <a:ext cx="6949440" cy="297004"/>
          </a:xfrm>
        </p:spPr>
        <p:txBody>
          <a:bodyPr lIns="45720" tIns="45720" rIns="45720" bIns="45720"/>
          <a:lstStyle>
            <a:lvl1pPr marL="0" indent="0">
              <a:buNone/>
              <a:defRPr sz="1400" b="0">
                <a:solidFill>
                  <a:srgbClr val="6A6466"/>
                </a:solidFill>
              </a:defRPr>
            </a:lvl1pPr>
          </a:lstStyle>
          <a:p>
            <a:pPr lvl="0"/>
            <a:r>
              <a:rPr lang="en-US" dirty="0"/>
              <a:t>&lt;FIGURE #-# apply bold&gt; &lt;Figure caption text normal&gt;</a:t>
            </a:r>
          </a:p>
        </p:txBody>
      </p:sp>
    </p:spTree>
    <p:extLst>
      <p:ext uri="{BB962C8B-B14F-4D97-AF65-F5344CB8AC3E}">
        <p14:creationId xmlns:p14="http://schemas.microsoft.com/office/powerpoint/2010/main" val="415393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990600" y="1340048"/>
            <a:ext cx="6949440" cy="297004"/>
          </a:xfrm>
        </p:spPr>
        <p:txBody>
          <a:bodyPr lIns="45720" tIns="45720" rIns="45720" bIns="45720"/>
          <a:lstStyle>
            <a:lvl1pPr marL="0" indent="0">
              <a:buNone/>
              <a:defRPr sz="1400" b="0" baseline="0">
                <a:solidFill>
                  <a:srgbClr val="6A6466"/>
                </a:solidFill>
              </a:defRPr>
            </a:lvl1pPr>
          </a:lstStyle>
          <a:p>
            <a:pPr lvl="0"/>
            <a:r>
              <a:rPr lang="en-US" dirty="0"/>
              <a:t>&lt;TABLE #-# apply bold&gt; &lt;Table title normal&gt;</a:t>
            </a:r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1" name="Picture 20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905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Conten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3673475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sp>
        <p:nvSpPr>
          <p:cNvPr id="11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0" y="5722796"/>
            <a:ext cx="4114800" cy="297004"/>
          </a:xfrm>
        </p:spPr>
        <p:txBody>
          <a:bodyPr lIns="91440" tIns="45720" rIns="91440" bIns="45720"/>
          <a:lstStyle>
            <a:lvl1pPr marL="0" indent="0">
              <a:buNone/>
              <a:defRPr sz="1400" b="0">
                <a:solidFill>
                  <a:srgbClr val="6A6466"/>
                </a:solidFill>
              </a:defRPr>
            </a:lvl1pPr>
          </a:lstStyle>
          <a:p>
            <a:pPr lvl="0"/>
            <a:r>
              <a:rPr lang="en-US" dirty="0"/>
              <a:t>&lt;FIGURE #-# apply bold&gt; &lt;Figure caption text normal&gt;</a:t>
            </a:r>
          </a:p>
        </p:txBody>
      </p:sp>
    </p:spTree>
    <p:extLst>
      <p:ext uri="{BB962C8B-B14F-4D97-AF65-F5344CB8AC3E}">
        <p14:creationId xmlns:p14="http://schemas.microsoft.com/office/powerpoint/2010/main" val="1239122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1" name="Picture 20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1336393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014984" y="6455663"/>
            <a:ext cx="6400800" cy="36576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3647033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125" y="480785"/>
            <a:ext cx="8415338" cy="29623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125" y="1538818"/>
            <a:ext cx="8415338" cy="1412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8376166" y="6513743"/>
            <a:ext cx="312906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B40067-BD2A-418A-98BB-08A98047DC4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216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19" r:id="rId2"/>
    <p:sldLayoutId id="2147484020" r:id="rId3"/>
    <p:sldLayoutId id="2147484021" r:id="rId4"/>
    <p:sldLayoutId id="2147484022" r:id="rId5"/>
    <p:sldLayoutId id="2147484023" r:id="rId6"/>
    <p:sldLayoutId id="2147484024" r:id="rId7"/>
    <p:sldLayoutId id="2147484025" r:id="rId8"/>
    <p:sldLayoutId id="2147484026" r:id="rId9"/>
    <p:sldLayoutId id="2147484027" r:id="rId10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2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95000"/>
        </a:lnSpc>
        <a:spcBef>
          <a:spcPts val="12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95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71500" indent="-114300" algn="l" defTabSz="914400" rtl="0" eaLnBrk="1" latinLnBrk="0" hangingPunct="1">
        <a:lnSpc>
          <a:spcPct val="95000"/>
        </a:lnSpc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-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295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1440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-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ctrTitle"/>
          </p:nvPr>
        </p:nvSpPr>
        <p:spPr>
          <a:xfrm>
            <a:off x="698500" y="3098238"/>
            <a:ext cx="7747000" cy="369460"/>
          </a:xfrm>
        </p:spPr>
        <p:txBody>
          <a:bodyPr/>
          <a:lstStyle/>
          <a:p>
            <a:r>
              <a:rPr lang="en-US" altLang="en-US" dirty="0" smtClean="0"/>
              <a:t>Week 1</a:t>
            </a:r>
            <a:endParaRPr lang="en-US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Classes and Data Abstraction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Objectives (1 of 2)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439129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en-US" altLang="en-US" dirty="0"/>
              <a:t>In this chapter, you will: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en-US" altLang="en-US" dirty="0"/>
              <a:t>Learn about classes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en-US" altLang="en-US" dirty="0"/>
              <a:t>Learn about </a:t>
            </a:r>
            <a:r>
              <a:rPr lang="en-US" altLang="en-US" b="1" dirty="0">
                <a:latin typeface="Courier New" pitchFamily="49" charset="0"/>
              </a:rPr>
              <a:t>private</a:t>
            </a:r>
            <a:r>
              <a:rPr lang="en-US" altLang="en-US" dirty="0"/>
              <a:t>, </a:t>
            </a:r>
            <a:r>
              <a:rPr lang="en-US" altLang="en-US" b="1" dirty="0">
                <a:latin typeface="Courier New" pitchFamily="49" charset="0"/>
              </a:rPr>
              <a:t>protected</a:t>
            </a:r>
            <a:r>
              <a:rPr lang="en-US" altLang="en-US" dirty="0"/>
              <a:t>, and </a:t>
            </a:r>
            <a:r>
              <a:rPr lang="en-US" altLang="en-US" b="1" dirty="0">
                <a:latin typeface="Courier New" pitchFamily="49" charset="0"/>
              </a:rPr>
              <a:t>public</a:t>
            </a:r>
            <a:r>
              <a:rPr lang="en-US" altLang="en-US" dirty="0"/>
              <a:t> members of a class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en-US" altLang="en-US" dirty="0"/>
              <a:t>Explore how classes are implemented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en-US" altLang="en-US" dirty="0"/>
              <a:t>Become aware of accessor and mutator functions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en-US" altLang="en-US" dirty="0"/>
              <a:t>Examine constructors and destructors</a:t>
            </a:r>
          </a:p>
          <a:p>
            <a:pPr marL="0" indent="0" eaLnBrk="1" hangingPunct="1">
              <a:buFont typeface="Arial" charset="0"/>
              <a:buNone/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Objectives (2 of 2)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303708"/>
          </a:xfrm>
        </p:spPr>
        <p:txBody>
          <a:bodyPr/>
          <a:lstStyle/>
          <a:p>
            <a:pPr lvl="1" eaLnBrk="1" hangingPunct="1"/>
            <a:r>
              <a:rPr lang="en-US" altLang="en-US" dirty="0"/>
              <a:t>Learn about the abstract data type (ADT)</a:t>
            </a:r>
          </a:p>
          <a:p>
            <a:pPr lvl="1" eaLnBrk="1" hangingPunct="1"/>
            <a:r>
              <a:rPr lang="en-US" altLang="en-US" dirty="0"/>
              <a:t>Explore how classes are used to implement ADTs</a:t>
            </a:r>
          </a:p>
          <a:p>
            <a:pPr lvl="1" eaLnBrk="1" hangingPunct="1"/>
            <a:r>
              <a:rPr lang="en-US" altLang="en-US" dirty="0"/>
              <a:t>Become aware of the differences between a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en-US" dirty="0"/>
              <a:t> and a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class</a:t>
            </a:r>
          </a:p>
          <a:p>
            <a:pPr lvl="1" eaLnBrk="1" hangingPunct="1"/>
            <a:r>
              <a:rPr lang="en-US" altLang="en-US" dirty="0"/>
              <a:t>Learn about information hiding</a:t>
            </a:r>
          </a:p>
          <a:p>
            <a:pPr lvl="1" eaLnBrk="1" hangingPunct="1"/>
            <a:r>
              <a:rPr lang="en-US" altLang="en-US" dirty="0"/>
              <a:t>Explore how information hiding is implemented in C++</a:t>
            </a:r>
          </a:p>
          <a:p>
            <a:pPr lvl="1"/>
            <a:r>
              <a:rPr lang="en-US" dirty="0"/>
              <a:t>Become aware of inline functions of a class</a:t>
            </a:r>
            <a:endParaRPr lang="en-US" altLang="en-US" dirty="0"/>
          </a:p>
          <a:p>
            <a:pPr lvl="1" eaLnBrk="1" hangingPunct="1"/>
            <a:r>
              <a:rPr lang="en-US" altLang="en-US" dirty="0"/>
              <a:t>Learn about the </a:t>
            </a:r>
            <a:r>
              <a:rPr lang="en-US" altLang="en-US" b="1" dirty="0">
                <a:latin typeface="Courier New" pitchFamily="49" charset="0"/>
              </a:rPr>
              <a:t>static</a:t>
            </a:r>
            <a:r>
              <a:rPr lang="en-US" altLang="en-US" dirty="0"/>
              <a:t> members of a class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Classes (1 of 4)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631216"/>
          </a:xfrm>
        </p:spPr>
        <p:txBody>
          <a:bodyPr/>
          <a:lstStyle/>
          <a:p>
            <a:pPr eaLnBrk="1" hangingPunct="1"/>
            <a:r>
              <a:rPr lang="en-US" altLang="en-US" u="sng" dirty="0"/>
              <a:t>Object-oriented design (OOD)</a:t>
            </a:r>
            <a:r>
              <a:rPr lang="en-US" altLang="en-US" dirty="0"/>
              <a:t>: a problem solving methodology</a:t>
            </a:r>
          </a:p>
          <a:p>
            <a:r>
              <a:rPr lang="en-US" altLang="en-US" u="sng" dirty="0"/>
              <a:t>Object</a:t>
            </a:r>
            <a:r>
              <a:rPr lang="en-US" altLang="en-US" dirty="0"/>
              <a:t>: </a:t>
            </a:r>
            <a:r>
              <a:rPr lang="en-US" dirty="0"/>
              <a:t>combines data and the operations on that data in a single unit</a:t>
            </a:r>
            <a:endParaRPr lang="en-US" altLang="en-US" dirty="0"/>
          </a:p>
          <a:p>
            <a:pPr eaLnBrk="1" hangingPunct="1"/>
            <a:r>
              <a:rPr lang="en-US" altLang="en-US" u="sng" dirty="0"/>
              <a:t>Class</a:t>
            </a:r>
            <a:r>
              <a:rPr lang="en-US" altLang="en-US" dirty="0"/>
              <a:t>: a collection of a fixed number of components</a:t>
            </a:r>
          </a:p>
          <a:p>
            <a:pPr eaLnBrk="1" hangingPunct="1"/>
            <a:r>
              <a:rPr lang="en-US" altLang="en-US" u="sng" dirty="0"/>
              <a:t>Member</a:t>
            </a:r>
            <a:r>
              <a:rPr lang="en-US" altLang="en-US" dirty="0"/>
              <a:t>: a component of a class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Classes (2 of 4)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92388"/>
          </a:xfrm>
        </p:spPr>
        <p:txBody>
          <a:bodyPr/>
          <a:lstStyle/>
          <a:p>
            <a:r>
              <a:rPr lang="en-US" dirty="0"/>
              <a:t>The general syntax for defining a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dirty="0"/>
              <a:t>:</a:t>
            </a:r>
            <a:endParaRPr lang="en-US" altLang="en-US" dirty="0"/>
          </a:p>
        </p:txBody>
      </p:sp>
      <p:pic>
        <p:nvPicPr>
          <p:cNvPr id="19463" name="Picture 7" descr="class classIdentifier&#10;{&#10;    classMembersList&#10;}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981200"/>
            <a:ext cx="30765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365125" y="3505201"/>
            <a:ext cx="8415338" cy="1418850"/>
          </a:xfrm>
        </p:spPr>
        <p:txBody>
          <a:bodyPr/>
          <a:lstStyle/>
          <a:p>
            <a:r>
              <a:rPr lang="en-US" altLang="en-US" dirty="0"/>
              <a:t>A class member can be a variable or a function</a:t>
            </a:r>
          </a:p>
          <a:p>
            <a:r>
              <a:rPr lang="en-US" altLang="en-US" dirty="0"/>
              <a:t>If a member of a </a:t>
            </a:r>
            <a:r>
              <a:rPr lang="en-US" altLang="en-US" b="1" dirty="0">
                <a:latin typeface="Courier New" pitchFamily="49" charset="0"/>
              </a:rPr>
              <a:t>class</a:t>
            </a:r>
            <a:r>
              <a:rPr lang="en-US" altLang="en-US" dirty="0"/>
              <a:t> is a variable</a:t>
            </a:r>
          </a:p>
          <a:p>
            <a:pPr lvl="1"/>
            <a:r>
              <a:rPr lang="en-US" altLang="en-US" dirty="0"/>
              <a:t>It is declared like any other variable</a:t>
            </a:r>
          </a:p>
          <a:p>
            <a:pPr lvl="1"/>
            <a:r>
              <a:rPr lang="en-US" altLang="en-US" dirty="0"/>
              <a:t>You cannot initialize a variable when you declare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Classes (3 of 4)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099036"/>
          </a:xfrm>
        </p:spPr>
        <p:txBody>
          <a:bodyPr/>
          <a:lstStyle/>
          <a:p>
            <a:pPr eaLnBrk="1" hangingPunct="1"/>
            <a:r>
              <a:rPr lang="en-US" altLang="en-US" dirty="0"/>
              <a:t>If a member of a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class</a:t>
            </a:r>
            <a:r>
              <a:rPr lang="en-US" altLang="en-US" dirty="0"/>
              <a:t> is a function</a:t>
            </a:r>
          </a:p>
          <a:p>
            <a:pPr lvl="1" eaLnBrk="1" hangingPunct="1"/>
            <a:r>
              <a:rPr lang="en-US" altLang="en-US" dirty="0"/>
              <a:t>A function prototype declares that member</a:t>
            </a:r>
          </a:p>
          <a:p>
            <a:pPr lvl="1" eaLnBrk="1" hangingPunct="1"/>
            <a:r>
              <a:rPr lang="en-US" altLang="en-US" dirty="0"/>
              <a:t>Function members can (directly) access any member of the </a:t>
            </a:r>
            <a:r>
              <a:rPr lang="en-US" altLang="en-US" b="1" dirty="0">
                <a:latin typeface="Courier New" pitchFamily="49" charset="0"/>
              </a:rPr>
              <a:t>class</a:t>
            </a:r>
          </a:p>
          <a:p>
            <a:r>
              <a:rPr lang="en-US" altLang="en-US" dirty="0"/>
              <a:t>A class definition defines only a data type</a:t>
            </a:r>
          </a:p>
          <a:p>
            <a:pPr lvl="1"/>
            <a:r>
              <a:rPr lang="en-US" altLang="en-US" dirty="0"/>
              <a:t>No memory is allocated</a:t>
            </a:r>
          </a:p>
          <a:p>
            <a:pPr lvl="1"/>
            <a:r>
              <a:rPr lang="en-US" altLang="en-US" dirty="0"/>
              <a:t>Remember the semicolon (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altLang="en-US" dirty="0"/>
              <a:t>) after the closing brace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Classes (4 of 4)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882438"/>
          </a:xfrm>
        </p:spPr>
        <p:txBody>
          <a:bodyPr/>
          <a:lstStyle/>
          <a:p>
            <a:pPr eaLnBrk="1" hangingPunct="1"/>
            <a:r>
              <a:rPr lang="en-US" altLang="en-US" dirty="0"/>
              <a:t>Three categories of class members:</a:t>
            </a:r>
          </a:p>
          <a:p>
            <a:pPr lvl="1" eaLnBrk="1" hangingPunct="1"/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private</a:t>
            </a:r>
            <a:r>
              <a:rPr lang="en-US" altLang="en-US" dirty="0"/>
              <a:t> (default)</a:t>
            </a:r>
            <a:endParaRPr lang="en-US" altLang="en-US" dirty="0">
              <a:latin typeface="Courier New" pitchFamily="49" charset="0"/>
            </a:endParaRPr>
          </a:p>
          <a:p>
            <a:pPr lvl="2" eaLnBrk="1" hangingPunct="1"/>
            <a:r>
              <a:rPr lang="en-US" altLang="en-US" dirty="0"/>
              <a:t>Member cannot be accessed outside the </a:t>
            </a:r>
            <a:r>
              <a:rPr lang="en-US" altLang="en-US" dirty="0">
                <a:latin typeface="Courier New" pitchFamily="49" charset="0"/>
              </a:rPr>
              <a:t>class</a:t>
            </a:r>
          </a:p>
          <a:p>
            <a:pPr lvl="1" eaLnBrk="1" hangingPunct="1"/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public</a:t>
            </a:r>
          </a:p>
          <a:p>
            <a:pPr lvl="2" eaLnBrk="1" hangingPunct="1"/>
            <a:r>
              <a:rPr lang="en-US" altLang="en-US" dirty="0"/>
              <a:t>Member is accessible outside the class</a:t>
            </a:r>
            <a:endParaRPr lang="en-US" altLang="en-US" dirty="0">
              <a:latin typeface="Courier New" pitchFamily="49" charset="0"/>
            </a:endParaRPr>
          </a:p>
          <a:p>
            <a:pPr lvl="1" eaLnBrk="1" hangingPunct="1"/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protected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10490"/>
            <a:ext cx="8026400" cy="287771"/>
          </a:xfrm>
        </p:spPr>
        <p:txBody>
          <a:bodyPr/>
          <a:lstStyle/>
          <a:p>
            <a:pPr eaLnBrk="1" hangingPunct="1"/>
            <a:r>
              <a:rPr lang="en-US" altLang="en-US" dirty="0"/>
              <a:t>Unified Modeling Language Class Diagrams (1 of 2)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608517"/>
          </a:xfrm>
        </p:spPr>
        <p:txBody>
          <a:bodyPr/>
          <a:lstStyle/>
          <a:p>
            <a:pPr eaLnBrk="1" hangingPunct="1"/>
            <a:r>
              <a:rPr lang="en-US" altLang="en-US" dirty="0"/>
              <a:t>Unified Modeling Language (UML) notation: used to graphically describe a class and its members</a:t>
            </a:r>
          </a:p>
          <a:p>
            <a:pPr lvl="1" eaLnBrk="1" hangingPunct="1"/>
            <a:r>
              <a:rPr lang="en-US" altLang="en-US" b="1" dirty="0">
                <a:latin typeface="Courier New" panose="02070309020205020404" pitchFamily="49" charset="0"/>
                <a:cs typeface="Courier New" pitchFamily="49" charset="0"/>
              </a:rPr>
              <a:t>+</a:t>
            </a:r>
            <a:r>
              <a:rPr lang="en-US" altLang="en-US" dirty="0"/>
              <a:t>: member is public</a:t>
            </a:r>
          </a:p>
          <a:p>
            <a:pPr lvl="1" eaLnBrk="1" hangingPunct="1"/>
            <a:r>
              <a:rPr lang="en-US" altLang="en-US" b="1" dirty="0">
                <a:latin typeface="Courier New" panose="02070309020205020404" pitchFamily="49" charset="0"/>
                <a:cs typeface="Courier New" pitchFamily="49" charset="0"/>
              </a:rPr>
              <a:t>-</a:t>
            </a:r>
            <a:r>
              <a:rPr lang="en-US" altLang="en-US" dirty="0">
                <a:cs typeface="Courier New" pitchFamily="49" charset="0"/>
              </a:rPr>
              <a:t>:</a:t>
            </a:r>
            <a:r>
              <a:rPr lang="en-US" altLang="en-US" dirty="0"/>
              <a:t> member is private</a:t>
            </a:r>
          </a:p>
          <a:p>
            <a:pPr lvl="1" eaLnBrk="1" hangingPunct="1"/>
            <a:r>
              <a:rPr lang="en-US" altLang="en-US" b="1" dirty="0">
                <a:latin typeface="Courier New" panose="02070309020205020404" pitchFamily="49" charset="0"/>
                <a:cs typeface="Courier New" pitchFamily="49" charset="0"/>
              </a:rPr>
              <a:t>#</a:t>
            </a:r>
            <a:r>
              <a:rPr lang="en-US" altLang="en-US" dirty="0"/>
              <a:t>: member is protected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Unified Modeling Language Class Diagrams (2 of 2)</a:t>
            </a:r>
          </a:p>
        </p:txBody>
      </p:sp>
      <p:pic>
        <p:nvPicPr>
          <p:cNvPr id="23559" name="Picture 7" descr="Figure 10-1 shows the UML class diagram of the class clockType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817768"/>
            <a:ext cx="6400800" cy="2830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371600" y="4648200"/>
            <a:ext cx="6949440" cy="297004"/>
          </a:xfrm>
        </p:spPr>
        <p:txBody>
          <a:bodyPr/>
          <a:lstStyle/>
          <a:p>
            <a:r>
              <a:rPr lang="en-US" b="1" dirty="0"/>
              <a:t>FIGURE 10-1 </a:t>
            </a:r>
            <a:r>
              <a:rPr lang="en-US" dirty="0"/>
              <a:t>UML class diagram of the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clockType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Variable (Object) Declaration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365124" y="1538818"/>
            <a:ext cx="8503920" cy="1412951"/>
          </a:xfrm>
        </p:spPr>
        <p:txBody>
          <a:bodyPr/>
          <a:lstStyle/>
          <a:p>
            <a:pPr eaLnBrk="1" hangingPunct="1"/>
            <a:r>
              <a:rPr lang="en-US" altLang="en-US" dirty="0"/>
              <a:t>Once defined, you can declare variables of that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class</a:t>
            </a:r>
            <a:r>
              <a:rPr lang="en-US" altLang="en-US" dirty="0"/>
              <a:t> type</a:t>
            </a:r>
          </a:p>
          <a:p>
            <a:pPr lvl="1"/>
            <a:r>
              <a:rPr lang="en-US" altLang="en-US" b="1" dirty="0">
                <a:latin typeface="Courier New" pitchFamily="49" charset="0"/>
              </a:rPr>
              <a:t>clockType</a:t>
            </a:r>
            <a:r>
              <a:rPr lang="en-US" altLang="en-US" dirty="0">
                <a:latin typeface="Courier New" pitchFamily="49" charset="0"/>
              </a:rPr>
              <a:t> </a:t>
            </a:r>
            <a:r>
              <a:rPr lang="en-US" altLang="en-US" b="1" dirty="0">
                <a:latin typeface="Courier New" pitchFamily="49" charset="0"/>
              </a:rPr>
              <a:t>myClock</a:t>
            </a:r>
            <a:r>
              <a:rPr lang="en-US" altLang="en-US" dirty="0">
                <a:latin typeface="Courier New" pitchFamily="49" charset="0"/>
              </a:rPr>
              <a:t>;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clockType yourClock;</a:t>
            </a:r>
          </a:p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class</a:t>
            </a:r>
            <a:r>
              <a:rPr lang="en-US" altLang="en-US" dirty="0"/>
              <a:t> variable is called a </a:t>
            </a:r>
            <a:r>
              <a:rPr lang="en-US" altLang="en-US" u="sng" dirty="0"/>
              <a:t>class object</a:t>
            </a:r>
            <a:r>
              <a:rPr lang="en-US" altLang="en-US" dirty="0"/>
              <a:t> or </a:t>
            </a:r>
            <a:r>
              <a:rPr lang="en-US" altLang="en-US" u="sng" dirty="0"/>
              <a:t>class instance</a:t>
            </a:r>
          </a:p>
        </p:txBody>
      </p:sp>
      <p:pic>
        <p:nvPicPr>
          <p:cNvPr id="24584" name="Picture 8" descr="Figure 10-2 shows the objects myClock and yourClock with&#10;values in their member variable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200400"/>
            <a:ext cx="6400800" cy="1388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98938" y="4596322"/>
            <a:ext cx="4114800" cy="297004"/>
          </a:xfrm>
        </p:spPr>
        <p:txBody>
          <a:bodyPr/>
          <a:lstStyle/>
          <a:p>
            <a:r>
              <a:rPr lang="en-US" b="1" dirty="0"/>
              <a:t>FIGURE 10-2 </a:t>
            </a:r>
            <a:r>
              <a:rPr lang="en-US" dirty="0"/>
              <a:t>Objects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myClock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yourClock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Accessing Class Members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738664"/>
          </a:xfrm>
        </p:spPr>
        <p:txBody>
          <a:bodyPr/>
          <a:lstStyle/>
          <a:p>
            <a:r>
              <a:rPr lang="en-US" dirty="0"/>
              <a:t>Once an object is declared, it can access the members of the class</a:t>
            </a:r>
          </a:p>
          <a:p>
            <a:r>
              <a:rPr lang="en-US" dirty="0"/>
              <a:t>The general syntax for an object to access a member of a class:</a:t>
            </a:r>
          </a:p>
        </p:txBody>
      </p:sp>
      <p:pic>
        <p:nvPicPr>
          <p:cNvPr id="25607" name="Picture 7" descr="classObjectName.memberNam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362200"/>
            <a:ext cx="359092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6" name="Content Placeholder 5"/>
          <p:cNvSpPr>
            <a:spLocks noGrp="1"/>
          </p:cNvSpPr>
          <p:nvPr>
            <p:ph idx="11"/>
          </p:nvPr>
        </p:nvSpPr>
        <p:spPr>
          <a:xfrm>
            <a:off x="365125" y="3048001"/>
            <a:ext cx="8415338" cy="1031051"/>
          </a:xfrm>
        </p:spPr>
        <p:txBody>
          <a:bodyPr/>
          <a:lstStyle/>
          <a:p>
            <a:r>
              <a:rPr lang="en-US" dirty="0"/>
              <a:t>If an object is declared in the definition of a member function of the class, it can access the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dirty="0"/>
              <a:t> and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dirty="0"/>
              <a:t> members</a:t>
            </a:r>
          </a:p>
          <a:p>
            <a:r>
              <a:rPr lang="en-US" dirty="0"/>
              <a:t>The dot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/>
              <a:t>) is the </a:t>
            </a:r>
            <a:r>
              <a:rPr lang="en-US" u="sng" dirty="0"/>
              <a:t>member access operator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Built-in Operations on Classes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362185"/>
          </a:xfrm>
        </p:spPr>
        <p:txBody>
          <a:bodyPr/>
          <a:lstStyle/>
          <a:p>
            <a:r>
              <a:rPr lang="en-US" dirty="0"/>
              <a:t>Most of C++’s built-in operations do not apply to classes</a:t>
            </a:r>
          </a:p>
          <a:p>
            <a:pPr lvl="1"/>
            <a:r>
              <a:rPr lang="en-US" dirty="0"/>
              <a:t>Arithmetic operators cannot be used on class objects unless the operators are overloaded</a:t>
            </a:r>
          </a:p>
          <a:p>
            <a:pPr lvl="1"/>
            <a:r>
              <a:rPr lang="en-US" dirty="0"/>
              <a:t>Relational operators cannot be used to compare two class objects for equality</a:t>
            </a:r>
          </a:p>
          <a:p>
            <a:r>
              <a:rPr lang="en-US" dirty="0"/>
              <a:t>Built-in operations that are valid for class objects:</a:t>
            </a:r>
          </a:p>
          <a:p>
            <a:pPr lvl="1"/>
            <a:r>
              <a:rPr lang="en-US" dirty="0"/>
              <a:t>Member access (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Assignment (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/>
              <a:t>)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Assignment Operator and Classes</a:t>
            </a:r>
          </a:p>
        </p:txBody>
      </p:sp>
      <p:pic>
        <p:nvPicPr>
          <p:cNvPr id="27655" name="Picture 7" descr="Figure 10-3 shows the values of myClock and yourClock before and after executing the statement myClock = yourClock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138363"/>
            <a:ext cx="6400800" cy="194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447800" y="4101394"/>
            <a:ext cx="6949440" cy="501676"/>
          </a:xfrm>
        </p:spPr>
        <p:txBody>
          <a:bodyPr/>
          <a:lstStyle/>
          <a:p>
            <a:pPr marL="1030288" indent="-1030288"/>
            <a:r>
              <a:rPr lang="en-US" b="1" dirty="0"/>
              <a:t>FIGURE 10-3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myClock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yourClock</a:t>
            </a:r>
            <a:r>
              <a:rPr lang="en-US" b="1" dirty="0"/>
              <a:t> </a:t>
            </a:r>
            <a:r>
              <a:rPr lang="en-US" dirty="0"/>
              <a:t>before and after executing the statement </a:t>
            </a:r>
            <a:br>
              <a:rPr lang="en-US" dirty="0"/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myClock</a:t>
            </a:r>
            <a:r>
              <a:rPr lang="en-US" b="1" dirty="0"/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 yourClock;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Class Scope (1 of 2)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945148"/>
          </a:xfrm>
        </p:spPr>
        <p:txBody>
          <a:bodyPr/>
          <a:lstStyle/>
          <a:p>
            <a:pPr eaLnBrk="1" hangingPunct="1"/>
            <a:r>
              <a:rPr lang="en-US" altLang="en-US" dirty="0"/>
              <a:t>A </a:t>
            </a:r>
            <a:r>
              <a:rPr lang="en-US" altLang="en-US" b="1" dirty="0">
                <a:solidFill>
                  <a:srgbClr val="638DAD"/>
                </a:solidFill>
              </a:rPr>
              <a:t>class</a:t>
            </a:r>
            <a:r>
              <a:rPr lang="en-US" altLang="en-US" dirty="0"/>
              <a:t> object can be automatic or static</a:t>
            </a:r>
          </a:p>
          <a:p>
            <a:pPr lvl="1" eaLnBrk="1" hangingPunct="1"/>
            <a:r>
              <a:rPr lang="en-US" altLang="en-US" dirty="0"/>
              <a:t>Automatic: created when the declaration is reached and destroyed when the surrounding block is exited</a:t>
            </a:r>
          </a:p>
          <a:p>
            <a:pPr lvl="1" eaLnBrk="1" hangingPunct="1"/>
            <a:r>
              <a:rPr lang="en-US" altLang="en-US" dirty="0"/>
              <a:t>Static: created when the declaration is reached and destroyed when the program terminates</a:t>
            </a:r>
          </a:p>
          <a:p>
            <a:r>
              <a:rPr lang="en-US" dirty="0"/>
              <a:t>A member of a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b="1" dirty="0"/>
              <a:t> </a:t>
            </a:r>
            <a:r>
              <a:rPr lang="en-US" dirty="0"/>
              <a:t>has the same scope as a member of a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endParaRPr lang="en-US" altLang="en-US" b="1" dirty="0">
              <a:solidFill>
                <a:srgbClr val="638DA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Class Scope (2 of 2)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477328"/>
          </a:xfrm>
        </p:spPr>
        <p:txBody>
          <a:bodyPr/>
          <a:lstStyle/>
          <a:p>
            <a:pPr eaLnBrk="1" hangingPunct="1"/>
            <a:r>
              <a:rPr lang="en-US" altLang="en-US" dirty="0"/>
              <a:t>A member of the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class</a:t>
            </a:r>
            <a:r>
              <a:rPr lang="en-US" altLang="en-US" dirty="0"/>
              <a:t> is local to the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class</a:t>
            </a:r>
          </a:p>
          <a:p>
            <a:pPr eaLnBrk="1" hangingPunct="1"/>
            <a:r>
              <a:rPr lang="en-US" altLang="en-US" dirty="0"/>
              <a:t>You access a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class</a:t>
            </a:r>
            <a:r>
              <a:rPr lang="en-US" altLang="en-US" dirty="0"/>
              <a:t> member outside the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class</a:t>
            </a:r>
            <a:r>
              <a:rPr lang="en-US" altLang="en-US" dirty="0"/>
              <a:t> by using the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class</a:t>
            </a:r>
            <a:r>
              <a:rPr lang="en-US" altLang="en-US" dirty="0"/>
              <a:t> object name and the member access operator (</a:t>
            </a:r>
            <a:r>
              <a:rPr lang="en-US" altLang="en-US" b="1" dirty="0">
                <a:latin typeface="Courier New" pitchFamily="49" charset="0"/>
              </a:rPr>
              <a:t>.</a:t>
            </a:r>
            <a:r>
              <a:rPr lang="en-US" altLang="en-US" dirty="0"/>
              <a:t>)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Functions and Classes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420663"/>
          </a:xfrm>
        </p:spPr>
        <p:txBody>
          <a:bodyPr/>
          <a:lstStyle/>
          <a:p>
            <a:pPr eaLnBrk="1" hangingPunct="1"/>
            <a:r>
              <a:rPr lang="en-US" altLang="en-US" dirty="0"/>
              <a:t>Objects can be passed as parameters to functions and returned as function values </a:t>
            </a:r>
          </a:p>
          <a:p>
            <a:pPr eaLnBrk="1" hangingPunct="1"/>
            <a:r>
              <a:rPr lang="en-US" altLang="en-US" dirty="0"/>
              <a:t>As parameters to functions:</a:t>
            </a:r>
          </a:p>
          <a:p>
            <a:pPr lvl="1"/>
            <a:r>
              <a:rPr lang="en-US" altLang="en-US" dirty="0"/>
              <a:t>Class objects can be passed by value or by reference </a:t>
            </a:r>
          </a:p>
          <a:p>
            <a:pPr eaLnBrk="1" hangingPunct="1"/>
            <a:r>
              <a:rPr lang="en-US" altLang="en-US" dirty="0"/>
              <a:t>If an object is passed by value:</a:t>
            </a:r>
          </a:p>
          <a:p>
            <a:pPr lvl="1" eaLnBrk="1" hangingPunct="1"/>
            <a:r>
              <a:rPr lang="en-US" altLang="en-US" dirty="0"/>
              <a:t>Contents of data members of the actual parameter are copied into the corresponding data members of the formal parameter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Reference Parameters and Class Objects (Variables) (1 of 2)</a:t>
            </a:r>
          </a:p>
        </p:txBody>
      </p:sp>
      <p:sp>
        <p:nvSpPr>
          <p:cNvPr id="31747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109808"/>
          </a:xfrm>
        </p:spPr>
        <p:txBody>
          <a:bodyPr/>
          <a:lstStyle/>
          <a:p>
            <a:pPr eaLnBrk="1" hangingPunct="1"/>
            <a:r>
              <a:rPr lang="en-US" altLang="en-US" dirty="0"/>
              <a:t>Passing by value might require a large amount of storage space and a considerable amount of computer time to copy the value of the actual parameter into the formal parameter</a:t>
            </a:r>
          </a:p>
          <a:p>
            <a:pPr eaLnBrk="1" hangingPunct="1"/>
            <a:r>
              <a:rPr lang="en-US" altLang="en-US" dirty="0"/>
              <a:t>If a variable is passed by reference:</a:t>
            </a:r>
          </a:p>
          <a:p>
            <a:pPr lvl="1" eaLnBrk="1" hangingPunct="1"/>
            <a:r>
              <a:rPr lang="en-US" altLang="en-US" dirty="0"/>
              <a:t>The formal parameter receives only the address of the actual parameter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Reference Parameters and Class Objects (Variables) (2 of 2)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239185"/>
          </a:xfrm>
        </p:spPr>
        <p:txBody>
          <a:bodyPr/>
          <a:lstStyle/>
          <a:p>
            <a:pPr eaLnBrk="1" hangingPunct="1"/>
            <a:r>
              <a:rPr lang="en-US" altLang="en-US" dirty="0"/>
              <a:t>Pass by reference is an efficient way to pass a variable as a parameter</a:t>
            </a:r>
          </a:p>
          <a:p>
            <a:pPr lvl="1" eaLnBrk="1" hangingPunct="1"/>
            <a:r>
              <a:rPr lang="en-US" altLang="en-US" dirty="0"/>
              <a:t>Problem: when passing by reference, the actual parameter changes when the formal parameter changes</a:t>
            </a:r>
          </a:p>
          <a:p>
            <a:pPr lvl="1" eaLnBrk="1" hangingPunct="1"/>
            <a:r>
              <a:rPr lang="en-US" altLang="en-US" dirty="0"/>
              <a:t>Solution: use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const</a:t>
            </a:r>
            <a:r>
              <a:rPr lang="en-US" altLang="en-US" dirty="0"/>
              <a:t> in the formal parameter declaration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Implementation of Member Functions (1 of 4)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477328"/>
          </a:xfrm>
        </p:spPr>
        <p:txBody>
          <a:bodyPr/>
          <a:lstStyle/>
          <a:p>
            <a:pPr eaLnBrk="1" hangingPunct="1"/>
            <a:r>
              <a:rPr lang="en-US" altLang="en-US" dirty="0"/>
              <a:t>Must write the code for functions defined as function prototypes</a:t>
            </a:r>
          </a:p>
          <a:p>
            <a:pPr eaLnBrk="1" hangingPunct="1"/>
            <a:r>
              <a:rPr lang="en-US" altLang="en-US" dirty="0"/>
              <a:t>Prototypes are left in the class to keep the class smaller and to hide the implementation</a:t>
            </a:r>
          </a:p>
          <a:p>
            <a:pPr eaLnBrk="1" hangingPunct="1"/>
            <a:r>
              <a:rPr lang="en-US" altLang="en-US" dirty="0"/>
              <a:t>To access identifiers local to the class, use the </a:t>
            </a:r>
            <a:r>
              <a:rPr lang="en-US" altLang="en-US" u="sng" dirty="0"/>
              <a:t>scope resolution operator</a:t>
            </a:r>
            <a:r>
              <a:rPr lang="en-US" altLang="en-US" dirty="0"/>
              <a:t>, (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:</a:t>
            </a:r>
            <a:r>
              <a:rPr lang="en-US" altLang="en-US" dirty="0">
                <a:cs typeface="Courier New" panose="02070309020205020404" pitchFamily="49" charset="0"/>
                <a:sym typeface="Wingdings" panose="05000000000000000000" pitchFamily="2" charset="2"/>
              </a:rPr>
              <a:t>)</a:t>
            </a:r>
            <a:endParaRPr lang="en-US" altLang="en-US" dirty="0"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Implementation of Member Functions (2 of 4)</a:t>
            </a:r>
          </a:p>
        </p:txBody>
      </p:sp>
      <p:pic>
        <p:nvPicPr>
          <p:cNvPr id="34823" name="Picture 7" descr="Figure 10-4 shows the values of myClock and yourClock before and after executing the statement myClock.setTime(3, 48, 52)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190750"/>
            <a:ext cx="6400800" cy="186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371600" y="4058548"/>
            <a:ext cx="6949440" cy="504369"/>
          </a:xfrm>
        </p:spPr>
        <p:txBody>
          <a:bodyPr/>
          <a:lstStyle/>
          <a:p>
            <a:pPr marL="1030288" indent="-1030288"/>
            <a:r>
              <a:rPr lang="en-US" b="1" dirty="0"/>
              <a:t>FIGURE 10-4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myClock</a:t>
            </a:r>
            <a:r>
              <a:rPr lang="en-US" b="1" dirty="0"/>
              <a:t> </a:t>
            </a:r>
            <a:r>
              <a:rPr lang="en-US" dirty="0"/>
              <a:t>before and after executing the statement </a:t>
            </a:r>
            <a:br>
              <a:rPr lang="en-US" dirty="0"/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myClock.setTime(3, 48, 52);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Implementation of Member Functions (3 of 4)</a:t>
            </a:r>
          </a:p>
        </p:txBody>
      </p:sp>
      <p:pic>
        <p:nvPicPr>
          <p:cNvPr id="35849" name="Picture 9" descr="Figure 10-5 shows objects myClock and yourClock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43050"/>
            <a:ext cx="6400800" cy="140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762000" y="2966100"/>
            <a:ext cx="6949440" cy="297004"/>
          </a:xfrm>
        </p:spPr>
        <p:txBody>
          <a:bodyPr/>
          <a:lstStyle/>
          <a:p>
            <a:r>
              <a:rPr lang="en-US" b="1" dirty="0"/>
              <a:t>FIGURE 10-5 </a:t>
            </a:r>
            <a:r>
              <a:rPr lang="en-US" dirty="0"/>
              <a:t>Objects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myClock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yourClock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5850" name="Picture 10" descr="Figure 10-6 illustrates the object myClock and the parameter otherClock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733800"/>
            <a:ext cx="6400800" cy="1500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13" name="Text Placeholder 2"/>
          <p:cNvSpPr txBox="1">
            <a:spLocks/>
          </p:cNvSpPr>
          <p:nvPr/>
        </p:nvSpPr>
        <p:spPr>
          <a:xfrm>
            <a:off x="762000" y="5234777"/>
            <a:ext cx="6949440" cy="299697"/>
          </a:xfrm>
          <a:prstGeom prst="rect">
            <a:avLst/>
          </a:prstGeom>
        </p:spPr>
        <p:txBody>
          <a:bodyPr vert="horz" wrap="square" lIns="45720" tIns="45720" rIns="45720" bIns="45720" rtlCol="0">
            <a:sp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accent2"/>
              </a:buClr>
              <a:buFont typeface="Arial" pitchFamily="34" charset="0"/>
              <a:buNone/>
              <a:defRPr sz="1400" b="0" kern="1200">
                <a:solidFill>
                  <a:srgbClr val="6A6466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Char char="-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295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-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b="1" dirty="0"/>
              <a:t>FIGURE 10-6 </a:t>
            </a:r>
            <a:r>
              <a:rPr lang="en-US" dirty="0"/>
              <a:t>Object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myClock</a:t>
            </a:r>
            <a:r>
              <a:rPr lang="en-US" b="1" dirty="0"/>
              <a:t> </a:t>
            </a:r>
            <a:r>
              <a:rPr lang="en-US" dirty="0"/>
              <a:t>and parameter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otherClock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Implementation of Member Functions (4 of 4)</a:t>
            </a:r>
          </a:p>
        </p:txBody>
      </p:sp>
      <p:sp>
        <p:nvSpPr>
          <p:cNvPr id="36867" name="Rectangle 4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924373"/>
          </a:xfrm>
        </p:spPr>
        <p:txBody>
          <a:bodyPr/>
          <a:lstStyle/>
          <a:p>
            <a:pPr eaLnBrk="1" hangingPunct="1">
              <a:lnSpc>
                <a:spcPct val="98000"/>
              </a:lnSpc>
              <a:spcBef>
                <a:spcPct val="18000"/>
              </a:spcBef>
            </a:pPr>
            <a:r>
              <a:rPr lang="en-US" altLang="en-US" dirty="0"/>
              <a:t>Once a class is properly defined and implemented, it can be used in a program</a:t>
            </a:r>
          </a:p>
          <a:p>
            <a:pPr lvl="1" eaLnBrk="1" hangingPunct="1">
              <a:lnSpc>
                <a:spcPct val="98000"/>
              </a:lnSpc>
              <a:spcBef>
                <a:spcPct val="18000"/>
              </a:spcBef>
            </a:pPr>
            <a:r>
              <a:rPr lang="en-US" altLang="en-US" dirty="0"/>
              <a:t>A program that uses/manipulates objects of a class is called a </a:t>
            </a:r>
            <a:r>
              <a:rPr lang="en-US" altLang="en-US" u="sng" dirty="0"/>
              <a:t>client</a:t>
            </a:r>
            <a:r>
              <a:rPr lang="en-US" altLang="en-US" b="1" dirty="0"/>
              <a:t> </a:t>
            </a:r>
            <a:r>
              <a:rPr lang="en-US" altLang="en-US" dirty="0"/>
              <a:t>of that class</a:t>
            </a:r>
          </a:p>
          <a:p>
            <a:pPr eaLnBrk="1" hangingPunct="1">
              <a:lnSpc>
                <a:spcPct val="98000"/>
              </a:lnSpc>
              <a:spcBef>
                <a:spcPct val="18000"/>
              </a:spcBef>
            </a:pPr>
            <a:r>
              <a:rPr lang="en-US" altLang="en-US" dirty="0"/>
              <a:t>When you declare objects of the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class</a:t>
            </a:r>
            <a:r>
              <a:rPr lang="en-US" altLang="en-US" b="1" dirty="0">
                <a:latin typeface="Courier New" pitchFamily="49" charset="0"/>
              </a:rPr>
              <a:t> clockType</a:t>
            </a:r>
            <a:r>
              <a:rPr lang="en-US" altLang="en-US" dirty="0"/>
              <a:t>, each object has its own copy of the member variables (</a:t>
            </a:r>
            <a:r>
              <a:rPr lang="en-US" altLang="en-US" b="1" dirty="0">
                <a:latin typeface="Courier New" pitchFamily="49" charset="0"/>
              </a:rPr>
              <a:t>hr</a:t>
            </a:r>
            <a:r>
              <a:rPr lang="en-US" altLang="en-US" dirty="0"/>
              <a:t>, </a:t>
            </a:r>
            <a:r>
              <a:rPr lang="en-US" altLang="en-US" b="1" dirty="0">
                <a:latin typeface="Courier New" pitchFamily="49" charset="0"/>
              </a:rPr>
              <a:t>min</a:t>
            </a:r>
            <a:r>
              <a:rPr lang="en-US" altLang="en-US" dirty="0"/>
              <a:t>, and </a:t>
            </a:r>
            <a:r>
              <a:rPr lang="en-US" altLang="en-US" b="1" dirty="0">
                <a:latin typeface="Courier New" pitchFamily="49" charset="0"/>
              </a:rPr>
              <a:t>sec</a:t>
            </a:r>
            <a:r>
              <a:rPr lang="en-US" altLang="en-US" dirty="0"/>
              <a:t>)</a:t>
            </a:r>
          </a:p>
          <a:p>
            <a:pPr lvl="1" eaLnBrk="1" hangingPunct="1">
              <a:lnSpc>
                <a:spcPct val="98000"/>
              </a:lnSpc>
              <a:spcBef>
                <a:spcPct val="18000"/>
              </a:spcBef>
              <a:buFont typeface="Arial" pitchFamily="34" charset="0"/>
              <a:buChar char="•"/>
            </a:pPr>
            <a:r>
              <a:rPr lang="en-US" altLang="en-US" dirty="0"/>
              <a:t>These variables are called </a:t>
            </a:r>
            <a:r>
              <a:rPr lang="en-US" altLang="en-US" u="sng" dirty="0"/>
              <a:t>instance variables </a:t>
            </a:r>
            <a:r>
              <a:rPr lang="en-US" altLang="en-US" dirty="0"/>
              <a:t>of the class</a:t>
            </a:r>
          </a:p>
          <a:p>
            <a:pPr lvl="1" eaLnBrk="1" hangingPunct="1">
              <a:lnSpc>
                <a:spcPct val="98000"/>
              </a:lnSpc>
              <a:spcBef>
                <a:spcPct val="18000"/>
              </a:spcBef>
            </a:pPr>
            <a:r>
              <a:rPr lang="en-US" altLang="en-US" dirty="0"/>
              <a:t>Every object has its own copy of the data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Accessor and Mutator Functions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449901"/>
          </a:xfrm>
        </p:spPr>
        <p:txBody>
          <a:bodyPr/>
          <a:lstStyle/>
          <a:p>
            <a:r>
              <a:rPr lang="en-US" altLang="en-US" u="sng" dirty="0"/>
              <a:t>Accessor function</a:t>
            </a:r>
            <a:r>
              <a:rPr lang="en-US" altLang="en-US" dirty="0"/>
              <a:t>: member function that only accesses the value(s) of member variable(s)</a:t>
            </a:r>
          </a:p>
          <a:p>
            <a:r>
              <a:rPr lang="en-US" altLang="en-US" u="sng" dirty="0"/>
              <a:t>Mutator function</a:t>
            </a:r>
            <a:r>
              <a:rPr lang="en-US" altLang="en-US" dirty="0"/>
              <a:t>: member function that modifies the value(s) of member variable(s)</a:t>
            </a:r>
          </a:p>
          <a:p>
            <a:r>
              <a:rPr lang="en-US" altLang="en-US" dirty="0"/>
              <a:t>Constant member function</a:t>
            </a:r>
          </a:p>
          <a:p>
            <a:pPr lvl="1"/>
            <a:r>
              <a:rPr lang="en-US" altLang="en-US" dirty="0"/>
              <a:t>Member function that cannot modify member variables of that class</a:t>
            </a:r>
          </a:p>
          <a:p>
            <a:pPr lvl="1"/>
            <a:r>
              <a:rPr lang="en-US" altLang="en-US" dirty="0"/>
              <a:t>Member function heading with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altLang="en-US" dirty="0"/>
              <a:t> at the end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Order of </a:t>
            </a:r>
            <a:r>
              <a:rPr lang="en-US" altLang="en-US" dirty="0">
                <a:latin typeface="Courier New" pitchFamily="49" charset="0"/>
              </a:rPr>
              <a:t>public</a:t>
            </a:r>
            <a:r>
              <a:rPr lang="en-US" altLang="en-US" dirty="0"/>
              <a:t> and </a:t>
            </a:r>
            <a:r>
              <a:rPr lang="en-US" altLang="en-US" dirty="0">
                <a:latin typeface="Courier New" pitchFamily="49" charset="0"/>
              </a:rPr>
              <a:t>private</a:t>
            </a:r>
            <a:r>
              <a:rPr lang="en-US" altLang="en-US" dirty="0"/>
              <a:t> Members of a Class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481175"/>
          </a:xfrm>
        </p:spPr>
        <p:txBody>
          <a:bodyPr/>
          <a:lstStyle/>
          <a:p>
            <a:pPr eaLnBrk="1" hangingPunct="1"/>
            <a:r>
              <a:rPr lang="en-US" altLang="en-US" dirty="0"/>
              <a:t>C++ has no fixed order in which to declare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public</a:t>
            </a:r>
            <a:r>
              <a:rPr lang="en-US" altLang="en-US" dirty="0">
                <a:solidFill>
                  <a:srgbClr val="638DAD"/>
                </a:solidFill>
              </a:rPr>
              <a:t>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private</a:t>
            </a:r>
            <a:r>
              <a:rPr lang="en-US" altLang="en-US" dirty="0"/>
              <a:t> members</a:t>
            </a:r>
          </a:p>
          <a:p>
            <a:pPr eaLnBrk="1" hangingPunct="1"/>
            <a:r>
              <a:rPr lang="en-US" altLang="en-US" dirty="0"/>
              <a:t>By default, all members of a class are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private</a:t>
            </a:r>
          </a:p>
          <a:p>
            <a:pPr eaLnBrk="1" hangingPunct="1"/>
            <a:r>
              <a:rPr lang="en-US" altLang="en-US" dirty="0"/>
              <a:t>Use the member access specifier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public</a:t>
            </a:r>
            <a:r>
              <a:rPr lang="en-US" altLang="en-US" dirty="0"/>
              <a:t> to make a member available for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public</a:t>
            </a:r>
            <a:r>
              <a:rPr lang="en-US" altLang="en-US" dirty="0"/>
              <a:t> access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Constructors (1 of 2)</a:t>
            </a:r>
          </a:p>
        </p:txBody>
      </p:sp>
      <p:sp>
        <p:nvSpPr>
          <p:cNvPr id="39939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545312"/>
          </a:xfrm>
        </p:spPr>
        <p:txBody>
          <a:bodyPr/>
          <a:lstStyle/>
          <a:p>
            <a:pPr eaLnBrk="1" hangingPunct="1"/>
            <a:r>
              <a:rPr lang="en-US" altLang="en-US" dirty="0"/>
              <a:t>Use constructors to guarantee that member variables of a class are initialized</a:t>
            </a:r>
          </a:p>
          <a:p>
            <a:pPr eaLnBrk="1" hangingPunct="1"/>
            <a:r>
              <a:rPr lang="en-US" altLang="en-US" dirty="0"/>
              <a:t>Two types of constructors</a:t>
            </a:r>
          </a:p>
          <a:p>
            <a:pPr lvl="1" eaLnBrk="1" hangingPunct="1"/>
            <a:r>
              <a:rPr lang="en-US" altLang="en-US" dirty="0"/>
              <a:t>With parameters </a:t>
            </a:r>
          </a:p>
          <a:p>
            <a:pPr lvl="1" eaLnBrk="1" hangingPunct="1"/>
            <a:r>
              <a:rPr lang="en-US" altLang="en-US" dirty="0"/>
              <a:t>Without parameters (</a:t>
            </a:r>
            <a:r>
              <a:rPr lang="en-US" altLang="en-US" u="sng" dirty="0"/>
              <a:t>default constructor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Other properties of constructors</a:t>
            </a:r>
          </a:p>
          <a:p>
            <a:pPr lvl="1" eaLnBrk="1" hangingPunct="1"/>
            <a:r>
              <a:rPr lang="en-US" altLang="en-US" dirty="0"/>
              <a:t>Name of a constructor is the same as the  name of the class</a:t>
            </a:r>
          </a:p>
          <a:p>
            <a:pPr lvl="1" eaLnBrk="1" hangingPunct="1"/>
            <a:r>
              <a:rPr lang="en-US" altLang="en-US" dirty="0"/>
              <a:t>A constructor has no type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Constructors (2 of 2)</a:t>
            </a:r>
          </a:p>
        </p:txBody>
      </p:sp>
      <p:sp>
        <p:nvSpPr>
          <p:cNvPr id="40963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157514"/>
          </a:xfrm>
        </p:spPr>
        <p:txBody>
          <a:bodyPr/>
          <a:lstStyle/>
          <a:p>
            <a:pPr eaLnBrk="1" hangingPunct="1"/>
            <a:r>
              <a:rPr lang="en-US" altLang="en-US" dirty="0"/>
              <a:t>A class can have more than one constructor</a:t>
            </a:r>
          </a:p>
          <a:p>
            <a:pPr lvl="1" eaLnBrk="1" hangingPunct="1"/>
            <a:r>
              <a:rPr lang="en-US" altLang="en-US" dirty="0"/>
              <a:t>Each must have a different formal parameter list</a:t>
            </a:r>
          </a:p>
          <a:p>
            <a:pPr eaLnBrk="1" hangingPunct="1"/>
            <a:r>
              <a:rPr lang="en-US" altLang="en-US" dirty="0"/>
              <a:t>Constructors execute automatically when a class object enters its scope</a:t>
            </a:r>
          </a:p>
          <a:p>
            <a:pPr lvl="1"/>
            <a:r>
              <a:rPr lang="en-US" altLang="en-US" dirty="0"/>
              <a:t>They cannot be called like other functions</a:t>
            </a:r>
          </a:p>
          <a:p>
            <a:pPr eaLnBrk="1" hangingPunct="1"/>
            <a:r>
              <a:rPr lang="en-US" altLang="en-US" dirty="0"/>
              <a:t>Which constructor executes depends on the types of values passed to the class object when the class object is declared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Invoking a Constructor</a:t>
            </a:r>
          </a:p>
        </p:txBody>
      </p:sp>
      <p:sp>
        <p:nvSpPr>
          <p:cNvPr id="41987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 constructor is automatically executed when a class variable is declared</a:t>
            </a:r>
          </a:p>
          <a:p>
            <a:pPr eaLnBrk="1" hangingPunct="1"/>
            <a:r>
              <a:rPr lang="en-US" altLang="en-US" dirty="0"/>
              <a:t>Because a class may have more than one constructor, you can invoke a specific constructor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Invoking the Default Constructor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92388"/>
          </a:xfrm>
        </p:spPr>
        <p:txBody>
          <a:bodyPr/>
          <a:lstStyle/>
          <a:p>
            <a:pPr eaLnBrk="1" hangingPunct="1"/>
            <a:r>
              <a:rPr lang="en-US" altLang="en-US" dirty="0"/>
              <a:t>Syntax to invoke the default constructor is:</a:t>
            </a:r>
          </a:p>
        </p:txBody>
      </p:sp>
      <p:pic>
        <p:nvPicPr>
          <p:cNvPr id="43015" name="Picture 7" descr="className classObjectName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81200"/>
            <a:ext cx="36004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365125" y="2667000"/>
            <a:ext cx="8415338" cy="1838965"/>
          </a:xfrm>
        </p:spPr>
        <p:txBody>
          <a:bodyPr/>
          <a:lstStyle/>
          <a:p>
            <a:r>
              <a:rPr lang="en-US" altLang="en-US" dirty="0"/>
              <a:t>The statement:</a:t>
            </a:r>
          </a:p>
          <a:p>
            <a:pPr marL="228600" lvl="1" indent="0">
              <a:buNone/>
            </a:pPr>
            <a:r>
              <a:rPr lang="en-US" altLang="en-US" b="1" dirty="0">
                <a:latin typeface="Courier New" pitchFamily="49" charset="0"/>
              </a:rPr>
              <a:t>clockType yourClock;</a:t>
            </a:r>
          </a:p>
          <a:p>
            <a:pPr marL="228600" lvl="1" indent="0">
              <a:buNone/>
            </a:pPr>
            <a:r>
              <a:rPr lang="en-US" altLang="en-US" dirty="0"/>
              <a:t>declares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yourClock</a:t>
            </a:r>
            <a:r>
              <a:rPr lang="en-US" altLang="en-US" dirty="0"/>
              <a:t> to be an object of type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clockType</a:t>
            </a:r>
            <a:r>
              <a:rPr lang="en-US" altLang="en-US" dirty="0">
                <a:cs typeface="Courier New" panose="02070309020205020404" pitchFamily="49" charset="0"/>
              </a:rPr>
              <a:t> and the default constructor executes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 indent="0">
              <a:buNone/>
            </a:pPr>
            <a:r>
              <a:rPr lang="en-US" altLang="en-US" b="1" dirty="0">
                <a:latin typeface="Courier New" pitchFamily="49" charset="0"/>
              </a:rPr>
              <a:t>	</a:t>
            </a:r>
            <a:br>
              <a:rPr lang="en-US" altLang="en-US" b="1" dirty="0">
                <a:latin typeface="Courier New" pitchFamily="49" charset="0"/>
              </a:rPr>
            </a:br>
            <a:endParaRPr lang="en-US" altLang="en-US" b="1" dirty="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Invoking a Constructor with Parameters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92388"/>
          </a:xfrm>
        </p:spPr>
        <p:txBody>
          <a:bodyPr/>
          <a:lstStyle/>
          <a:p>
            <a:r>
              <a:rPr lang="en-US" dirty="0"/>
              <a:t>The syntax to invoke a constructor with a parameter is:</a:t>
            </a:r>
            <a:endParaRPr lang="en-US" altLang="en-US" dirty="0"/>
          </a:p>
        </p:txBody>
      </p:sp>
      <p:pic>
        <p:nvPicPr>
          <p:cNvPr id="44039" name="Picture 7" descr="className classObjectName(argument1, argument2, ...)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05000"/>
            <a:ext cx="696277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365125" y="2590801"/>
            <a:ext cx="8415338" cy="1371600"/>
          </a:xfrm>
        </p:spPr>
        <p:txBody>
          <a:bodyPr/>
          <a:lstStyle/>
          <a:p>
            <a:r>
              <a:rPr lang="en-US" altLang="en-US" dirty="0"/>
              <a:t>Number and type of arguments should match the formal parameters (in the order given) of one of the constructors</a:t>
            </a:r>
          </a:p>
          <a:p>
            <a:pPr lvl="1"/>
            <a:r>
              <a:rPr lang="en-US" altLang="en-US" dirty="0"/>
              <a:t>Otherwise, C++ uses type conversion and looks for the best match</a:t>
            </a:r>
          </a:p>
          <a:p>
            <a:pPr lvl="1"/>
            <a:r>
              <a:rPr lang="en-US" altLang="en-US" dirty="0"/>
              <a:t>Any ambiguity causes a compile-time error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Constructors and Default Parameters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314480"/>
          </a:xfrm>
        </p:spPr>
        <p:txBody>
          <a:bodyPr/>
          <a:lstStyle/>
          <a:p>
            <a:pPr eaLnBrk="1" hangingPunct="1"/>
            <a:r>
              <a:rPr lang="en-US" altLang="en-US" dirty="0"/>
              <a:t>A constructor can have default parameters</a:t>
            </a:r>
          </a:p>
          <a:p>
            <a:pPr lvl="1" eaLnBrk="1" hangingPunct="1"/>
            <a:r>
              <a:rPr lang="en-US" altLang="en-US" dirty="0"/>
              <a:t>Rules for declaring formal parameters are the same as for declaring default formal parameters in a function</a:t>
            </a:r>
          </a:p>
          <a:p>
            <a:pPr lvl="1" eaLnBrk="1" hangingPunct="1"/>
            <a:r>
              <a:rPr lang="en-US" altLang="en-US" dirty="0"/>
              <a:t>Actual parameters are passed according to the same rules for functions</a:t>
            </a:r>
          </a:p>
          <a:p>
            <a:pPr eaLnBrk="1" hangingPunct="1"/>
            <a:r>
              <a:rPr lang="en-US" altLang="en-US" dirty="0"/>
              <a:t>A </a:t>
            </a:r>
            <a:r>
              <a:rPr lang="en-US" altLang="en-US" u="sng" dirty="0"/>
              <a:t>default constructor</a:t>
            </a:r>
            <a:r>
              <a:rPr lang="en-US" altLang="en-US" dirty="0"/>
              <a:t> is a constructor with no parameters or with all default parameters</a:t>
            </a:r>
          </a:p>
          <a:p>
            <a:pPr lvl="1"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Classes and Constructors: A Precaution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051331"/>
          </a:xfrm>
        </p:spPr>
        <p:txBody>
          <a:bodyPr/>
          <a:lstStyle/>
          <a:p>
            <a:pPr eaLnBrk="1" hangingPunct="1"/>
            <a:r>
              <a:rPr lang="en-US" altLang="en-US" dirty="0"/>
              <a:t>If a class has no constructor(s), C++ provides the default constructor</a:t>
            </a:r>
          </a:p>
          <a:p>
            <a:pPr lvl="1" eaLnBrk="1" hangingPunct="1"/>
            <a:r>
              <a:rPr lang="en-US" altLang="en-US" dirty="0"/>
              <a:t>However, the object declared is still uninitialized</a:t>
            </a:r>
          </a:p>
          <a:p>
            <a:pPr eaLnBrk="1" hangingPunct="1"/>
            <a:r>
              <a:rPr lang="en-US" altLang="en-US" dirty="0"/>
              <a:t>If a class includes constructor(s) with parameter(s), but not the default constructor</a:t>
            </a:r>
          </a:p>
          <a:p>
            <a:pPr lvl="1" eaLnBrk="1" hangingPunct="1"/>
            <a:r>
              <a:rPr lang="en-US" altLang="en-US" dirty="0"/>
              <a:t>C++ does not provide the default constructor</a:t>
            </a:r>
          </a:p>
          <a:p>
            <a:pPr lvl="1" eaLnBrk="1" hangingPunct="1"/>
            <a:r>
              <a:rPr lang="en-US" altLang="en-US" dirty="0"/>
              <a:t>Appropriate arguments must be included when the object is declared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/>
              <a:t>In-line Initialization of Data Members and the Default Constructor</a:t>
            </a:r>
            <a:endParaRPr lang="en-US" altLang="en-US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974387"/>
          </a:xfrm>
        </p:spPr>
        <p:txBody>
          <a:bodyPr/>
          <a:lstStyle/>
          <a:p>
            <a:pPr eaLnBrk="1" hangingPunct="1"/>
            <a:r>
              <a:rPr lang="en-US" altLang="en-US" dirty="0"/>
              <a:t>C++11 standard allows member initialization in class declarations</a:t>
            </a:r>
          </a:p>
          <a:p>
            <a:pPr lvl="1"/>
            <a:r>
              <a:rPr lang="en-US" altLang="en-US" dirty="0"/>
              <a:t>Called in-line initialization of the data members</a:t>
            </a:r>
          </a:p>
          <a:p>
            <a:r>
              <a:rPr lang="en-US" altLang="en-US" dirty="0"/>
              <a:t>When an object is declared without parameters, then the object is initialized with the in-line initialized values</a:t>
            </a:r>
          </a:p>
          <a:p>
            <a:pPr lvl="1"/>
            <a:r>
              <a:rPr lang="en-US" altLang="en-US" dirty="0"/>
              <a:t>If declared with parameters, then the default values are overridden by the constructor with the parameters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Arrays of Class Objects (Variables) and Constructors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371145"/>
          </a:xfrm>
        </p:spPr>
        <p:txBody>
          <a:bodyPr/>
          <a:lstStyle/>
          <a:p>
            <a:pPr eaLnBrk="1" hangingPunct="1"/>
            <a:r>
              <a:rPr lang="en-US" altLang="en-US" dirty="0"/>
              <a:t>If you declare an array of class objects, the class should have the default constructor</a:t>
            </a:r>
          </a:p>
          <a:p>
            <a:pPr lvl="1"/>
            <a:r>
              <a:rPr lang="en-US" altLang="en-US" dirty="0"/>
              <a:t>The default constructor is typically used to initialize each (array) class object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Destructors</a:t>
            </a:r>
          </a:p>
        </p:txBody>
      </p:sp>
      <p:sp>
        <p:nvSpPr>
          <p:cNvPr id="43013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757678"/>
          </a:xfrm>
        </p:spPr>
        <p:txBody>
          <a:bodyPr/>
          <a:lstStyle/>
          <a:p>
            <a:r>
              <a:rPr lang="en-US" dirty="0"/>
              <a:t>Destructors are functions without any type</a:t>
            </a:r>
          </a:p>
          <a:p>
            <a:r>
              <a:rPr lang="en-US" dirty="0"/>
              <a:t>A class can have only one destructor</a:t>
            </a:r>
          </a:p>
          <a:p>
            <a:pPr lvl="1"/>
            <a:r>
              <a:rPr lang="en-US" dirty="0"/>
              <a:t>The destructor has no parameters</a:t>
            </a:r>
          </a:p>
          <a:p>
            <a:r>
              <a:rPr lang="en-US" dirty="0"/>
              <a:t>The name of a destructor is the tilde character (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r>
              <a:rPr lang="en-US" dirty="0"/>
              <a:t>) followed by the class name</a:t>
            </a:r>
          </a:p>
          <a:p>
            <a:pPr lvl="1"/>
            <a:r>
              <a:rPr lang="en-US" dirty="0"/>
              <a:t>Example: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~clockType();</a:t>
            </a:r>
          </a:p>
          <a:p>
            <a:r>
              <a:rPr lang="en-US" dirty="0"/>
              <a:t>The destructor automatically executes when the class object goes out of scope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0" y="410490"/>
            <a:ext cx="8026400" cy="287771"/>
          </a:xfrm>
        </p:spPr>
        <p:txBody>
          <a:bodyPr/>
          <a:lstStyle/>
          <a:p>
            <a:pPr eaLnBrk="1" hangingPunct="1"/>
            <a:r>
              <a:rPr lang="en-US" altLang="en-US" dirty="0"/>
              <a:t>Data Abstract, Classes, and Abstract Data Types</a:t>
            </a:r>
          </a:p>
        </p:txBody>
      </p:sp>
      <p:sp>
        <p:nvSpPr>
          <p:cNvPr id="50179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4070345"/>
          </a:xfrm>
        </p:spPr>
        <p:txBody>
          <a:bodyPr/>
          <a:lstStyle/>
          <a:p>
            <a:pPr eaLnBrk="1" hangingPunct="1"/>
            <a:r>
              <a:rPr lang="en-US" altLang="en-US" u="sng" dirty="0"/>
              <a:t>Abstraction</a:t>
            </a:r>
          </a:p>
          <a:p>
            <a:pPr lvl="1" eaLnBrk="1" hangingPunct="1"/>
            <a:r>
              <a:rPr lang="en-US" altLang="en-US" dirty="0"/>
              <a:t>Separating design details from usage</a:t>
            </a:r>
          </a:p>
          <a:p>
            <a:pPr lvl="1" eaLnBrk="1" hangingPunct="1"/>
            <a:r>
              <a:rPr lang="en-US" altLang="en-US" dirty="0"/>
              <a:t>Separating the logical properties from the implementation details</a:t>
            </a:r>
          </a:p>
          <a:p>
            <a:pPr eaLnBrk="1" hangingPunct="1"/>
            <a:r>
              <a:rPr lang="en-US" altLang="en-US" dirty="0"/>
              <a:t>Abstraction also applicable to data</a:t>
            </a:r>
          </a:p>
          <a:p>
            <a:pPr eaLnBrk="1" hangingPunct="1"/>
            <a:r>
              <a:rPr lang="en-US" altLang="en-US" u="sng" dirty="0"/>
              <a:t>Abstract data type (ADT)</a:t>
            </a:r>
            <a:r>
              <a:rPr lang="en-US" altLang="en-US" dirty="0"/>
              <a:t>: a data type that separates the logical properties from the implementation details</a:t>
            </a:r>
          </a:p>
          <a:p>
            <a:pPr eaLnBrk="1" hangingPunct="1"/>
            <a:r>
              <a:rPr lang="en-US" altLang="en-US" dirty="0"/>
              <a:t>Three things associated with an ADT</a:t>
            </a:r>
          </a:p>
          <a:p>
            <a:pPr lvl="1"/>
            <a:r>
              <a:rPr lang="en-US" altLang="en-US" u="sng" dirty="0"/>
              <a:t>Type name</a:t>
            </a:r>
            <a:r>
              <a:rPr lang="en-US" altLang="en-US" dirty="0"/>
              <a:t>: the name of the ADT</a:t>
            </a:r>
          </a:p>
          <a:p>
            <a:pPr lvl="1"/>
            <a:r>
              <a:rPr lang="en-US" altLang="en-US" u="sng" dirty="0"/>
              <a:t>Domain</a:t>
            </a:r>
            <a:r>
              <a:rPr lang="en-US" altLang="en-US" dirty="0"/>
              <a:t>: the set of values belonging to the ADT</a:t>
            </a:r>
          </a:p>
          <a:p>
            <a:pPr lvl="1"/>
            <a:r>
              <a:rPr lang="en-US" altLang="en-US" dirty="0"/>
              <a:t>Set of </a:t>
            </a:r>
            <a:r>
              <a:rPr lang="en-US" altLang="en-US" u="sng" dirty="0"/>
              <a:t>operations</a:t>
            </a:r>
            <a:r>
              <a:rPr lang="en-US" altLang="en-US" dirty="0"/>
              <a:t> on the data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0" y="410490"/>
            <a:ext cx="8026400" cy="287771"/>
          </a:xfrm>
        </p:spPr>
        <p:txBody>
          <a:bodyPr/>
          <a:lstStyle/>
          <a:p>
            <a:pPr eaLnBrk="1" hangingPunct="1"/>
            <a:r>
              <a:rPr lang="en-US" altLang="en-US" dirty="0"/>
              <a:t>A </a:t>
            </a:r>
            <a:r>
              <a:rPr lang="en-US" altLang="en-US" dirty="0">
                <a:latin typeface="Courier New" pitchFamily="49" charset="0"/>
              </a:rPr>
              <a:t>struct</a:t>
            </a:r>
            <a:r>
              <a:rPr lang="en-US" altLang="en-US" dirty="0"/>
              <a:t> versus a </a:t>
            </a:r>
            <a:r>
              <a:rPr lang="en-US" altLang="en-US" dirty="0">
                <a:latin typeface="Courier New" pitchFamily="49" charset="0"/>
              </a:rPr>
              <a:t>class</a:t>
            </a:r>
            <a:r>
              <a:rPr lang="en-US" altLang="en-US" dirty="0">
                <a:latin typeface="+mn-lt"/>
              </a:rPr>
              <a:t> </a:t>
            </a:r>
            <a:r>
              <a:rPr lang="en-US" altLang="en-US" dirty="0"/>
              <a:t>(1 of 2)</a:t>
            </a:r>
          </a:p>
        </p:txBody>
      </p:sp>
      <p:sp>
        <p:nvSpPr>
          <p:cNvPr id="51203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525033"/>
          </a:xfrm>
        </p:spPr>
        <p:txBody>
          <a:bodyPr/>
          <a:lstStyle/>
          <a:p>
            <a:pPr eaLnBrk="1" hangingPunct="1"/>
            <a:r>
              <a:rPr lang="en-US" altLang="en-US" dirty="0"/>
              <a:t>By default, members of a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struct</a:t>
            </a:r>
            <a:r>
              <a:rPr lang="en-US" altLang="en-US" dirty="0"/>
              <a:t> are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public</a:t>
            </a:r>
          </a:p>
          <a:p>
            <a:pPr lvl="1" eaLnBrk="1" hangingPunct="1"/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private</a:t>
            </a:r>
            <a:r>
              <a:rPr lang="en-US" altLang="en-US" dirty="0"/>
              <a:t> specifier can be used in a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struct</a:t>
            </a:r>
            <a:r>
              <a:rPr lang="en-US" altLang="en-US" dirty="0"/>
              <a:t> to make a member private</a:t>
            </a:r>
          </a:p>
          <a:p>
            <a:pPr eaLnBrk="1" hangingPunct="1"/>
            <a:r>
              <a:rPr lang="en-US" altLang="en-US" dirty="0"/>
              <a:t>By default, the members of a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class</a:t>
            </a:r>
            <a:r>
              <a:rPr lang="en-US" altLang="en-US" dirty="0"/>
              <a:t> are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private</a:t>
            </a:r>
          </a:p>
          <a:p>
            <a:pPr eaLnBrk="1" hangingPunct="1"/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class</a:t>
            </a:r>
            <a:r>
              <a:rPr lang="en-US" altLang="en-US" dirty="0"/>
              <a:t>es and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struct</a:t>
            </a:r>
            <a:r>
              <a:rPr lang="en-US" altLang="en-US" dirty="0"/>
              <a:t>s have the same capabilities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 </a:t>
            </a:r>
            <a:r>
              <a:rPr lang="en-US" altLang="en-US" dirty="0">
                <a:latin typeface="Courier New" pitchFamily="49" charset="0"/>
              </a:rPr>
              <a:t>struct</a:t>
            </a:r>
            <a:r>
              <a:rPr lang="en-US" altLang="en-US" dirty="0"/>
              <a:t> versus a </a:t>
            </a:r>
            <a:r>
              <a:rPr lang="en-US" altLang="en-US" dirty="0">
                <a:latin typeface="Courier New" pitchFamily="49" charset="0"/>
              </a:rPr>
              <a:t>class</a:t>
            </a:r>
            <a:r>
              <a:rPr lang="en-US" altLang="en-US" dirty="0"/>
              <a:t> (2 of 2)</a:t>
            </a:r>
          </a:p>
        </p:txBody>
      </p:sp>
      <p:sp>
        <p:nvSpPr>
          <p:cNvPr id="52227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663532"/>
          </a:xfrm>
        </p:spPr>
        <p:txBody>
          <a:bodyPr/>
          <a:lstStyle/>
          <a:p>
            <a:pPr eaLnBrk="1" hangingPunct="1"/>
            <a:r>
              <a:rPr lang="en-US" altLang="en-US" dirty="0"/>
              <a:t>In C++, the definition of a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struct</a:t>
            </a:r>
            <a:r>
              <a:rPr lang="en-US" altLang="en-US" dirty="0"/>
              <a:t> was expanded to include member functions, constructors, and destructors</a:t>
            </a:r>
          </a:p>
          <a:p>
            <a:pPr eaLnBrk="1" hangingPunct="1"/>
            <a:r>
              <a:rPr lang="en-US" altLang="en-US" dirty="0"/>
              <a:t>If all member variables of a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class</a:t>
            </a:r>
            <a:r>
              <a:rPr lang="en-US" altLang="en-US" dirty="0"/>
              <a:t> are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public</a:t>
            </a:r>
            <a:r>
              <a:rPr lang="en-US" altLang="en-US" dirty="0"/>
              <a:t> and there are no member functions:</a:t>
            </a:r>
          </a:p>
          <a:p>
            <a:pPr lvl="1" eaLnBrk="1" hangingPunct="1"/>
            <a:r>
              <a:rPr lang="en-US" altLang="en-US" dirty="0"/>
              <a:t>Use a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struct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Information Hiding (1 of 3)</a:t>
            </a:r>
          </a:p>
        </p:txBody>
      </p:sp>
      <p:sp>
        <p:nvSpPr>
          <p:cNvPr id="5018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3236271"/>
          </a:xfrm>
        </p:spPr>
        <p:txBody>
          <a:bodyPr/>
          <a:lstStyle/>
          <a:p>
            <a:r>
              <a:rPr lang="en-US" dirty="0"/>
              <a:t>Information hiding refers to hiding the details of the operations on the data</a:t>
            </a:r>
          </a:p>
          <a:p>
            <a:r>
              <a:rPr lang="en-US" dirty="0"/>
              <a:t>The </a:t>
            </a:r>
            <a:r>
              <a:rPr lang="en-US" u="sng" dirty="0"/>
              <a:t>header file</a:t>
            </a:r>
            <a:r>
              <a:rPr lang="en-US" dirty="0"/>
              <a:t> (or </a:t>
            </a:r>
            <a:r>
              <a:rPr lang="en-US" u="sng" dirty="0"/>
              <a:t>interface file</a:t>
            </a:r>
            <a:r>
              <a:rPr lang="en-US" dirty="0"/>
              <a:t>) contains the specification details</a:t>
            </a:r>
          </a:p>
          <a:p>
            <a:pPr lvl="1"/>
            <a:r>
              <a:rPr lang="en-US" dirty="0"/>
              <a:t>The header file has an extension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</a:p>
          <a:p>
            <a:r>
              <a:rPr lang="en-US" dirty="0"/>
              <a:t>The implementation file contains the definitions of the functions to implement the operations of an object</a:t>
            </a:r>
          </a:p>
          <a:p>
            <a:pPr lvl="1"/>
            <a:r>
              <a:rPr lang="en-US" dirty="0"/>
              <a:t>This file has an extension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cpp</a:t>
            </a:r>
          </a:p>
          <a:p>
            <a:r>
              <a:rPr lang="en-US" dirty="0"/>
              <a:t>In the header file, include function prototypes and comments that briefly describe the functions</a:t>
            </a:r>
          </a:p>
          <a:p>
            <a:pPr lvl="1"/>
            <a:r>
              <a:rPr lang="en-US" dirty="0"/>
              <a:t>Specify preconditions and/or postconditions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Information Hiding (2 of 3)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Implementation file must include the header file via the </a:t>
            </a:r>
            <a:r>
              <a:rPr lang="en-US" altLang="en-US" b="1" dirty="0">
                <a:latin typeface="Courier New" pitchFamily="49" charset="0"/>
              </a:rPr>
              <a:t>include</a:t>
            </a:r>
            <a:r>
              <a:rPr lang="en-US" altLang="en-US" dirty="0"/>
              <a:t> statement</a:t>
            </a:r>
          </a:p>
          <a:p>
            <a:pPr eaLnBrk="1" hangingPunct="1"/>
            <a:r>
              <a:rPr lang="en-US" altLang="en-US" dirty="0"/>
              <a:t>In the </a:t>
            </a:r>
            <a:r>
              <a:rPr lang="en-US" altLang="en-US" b="1" dirty="0">
                <a:latin typeface="Courier New" pitchFamily="49" charset="0"/>
              </a:rPr>
              <a:t>include</a:t>
            </a:r>
            <a:r>
              <a:rPr lang="en-US" altLang="en-US" dirty="0"/>
              <a:t> statement:</a:t>
            </a:r>
          </a:p>
          <a:p>
            <a:pPr lvl="1" eaLnBrk="1" hangingPunct="1"/>
            <a:r>
              <a:rPr lang="en-US" altLang="en-US" dirty="0"/>
              <a:t>User-defined header files are enclosed in double quotes </a:t>
            </a:r>
          </a:p>
          <a:p>
            <a:pPr lvl="1" eaLnBrk="1" hangingPunct="1"/>
            <a:r>
              <a:rPr lang="en-US" altLang="en-US" dirty="0"/>
              <a:t>System-provided header files are enclosed between angular brackets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Information Hiding (3 of 3)</a:t>
            </a:r>
          </a:p>
        </p:txBody>
      </p:sp>
      <p:sp>
        <p:nvSpPr>
          <p:cNvPr id="55299" name="Rectangle 4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323439"/>
          </a:xfrm>
        </p:spPr>
        <p:txBody>
          <a:bodyPr/>
          <a:lstStyle/>
          <a:p>
            <a:pPr eaLnBrk="1" hangingPunct="1"/>
            <a:r>
              <a:rPr lang="en-US" altLang="en-US" u="sng" dirty="0"/>
              <a:t>Precondition</a:t>
            </a:r>
            <a:r>
              <a:rPr lang="en-US" altLang="en-US" dirty="0"/>
              <a:t>: a statement specifying the condition(s) that must be true before the function is called</a:t>
            </a:r>
            <a:endParaRPr lang="en-US" altLang="en-US" b="1" dirty="0"/>
          </a:p>
          <a:p>
            <a:pPr eaLnBrk="1" hangingPunct="1"/>
            <a:r>
              <a:rPr lang="en-US" altLang="en-US" u="sng" dirty="0"/>
              <a:t>Postcondition</a:t>
            </a:r>
            <a:r>
              <a:rPr lang="en-US" altLang="en-US" dirty="0"/>
              <a:t>: a statement specifying what is true after the function call is completed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Executable Code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24369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To use an object in a program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The program must be able to access the implementation details of the object</a:t>
            </a:r>
          </a:p>
          <a:p>
            <a:r>
              <a:rPr lang="en-US" dirty="0"/>
              <a:t>IDEs Visual C++ Express (2013 or 2016) and Visual Studio 2015, and C++ Builder</a:t>
            </a:r>
            <a:r>
              <a:rPr lang="en-US" altLang="en-US" dirty="0"/>
              <a:t> put the editor, compiler, and linker into a package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One command (</a:t>
            </a:r>
            <a:r>
              <a:rPr lang="en-US" altLang="en-US" u="sng" dirty="0"/>
              <a:t>build</a:t>
            </a:r>
            <a:r>
              <a:rPr lang="en-US" altLang="en-US" dirty="0"/>
              <a:t>, </a:t>
            </a:r>
            <a:r>
              <a:rPr lang="en-US" altLang="en-US" u="sng" dirty="0"/>
              <a:t>rebuild</a:t>
            </a:r>
            <a:r>
              <a:rPr lang="en-US" altLang="en-US" dirty="0"/>
              <a:t>, or </a:t>
            </a:r>
            <a:r>
              <a:rPr lang="en-US" altLang="en-US" u="sng" dirty="0"/>
              <a:t>make</a:t>
            </a:r>
            <a:r>
              <a:rPr lang="en-US" altLang="en-US" dirty="0"/>
              <a:t>) compiles program and links it with the other necessary files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These systems also manage multiple file programs in the form of a project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 of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738664"/>
          </a:xfrm>
        </p:spPr>
        <p:txBody>
          <a:bodyPr/>
          <a:lstStyle/>
          <a:p>
            <a:r>
              <a:rPr lang="en-US" dirty="0"/>
              <a:t>Various examples of classes and how to use them in a program are presented</a:t>
            </a:r>
          </a:p>
          <a:p>
            <a:r>
              <a:rPr lang="en-US" dirty="0"/>
              <a:t>Refer to Example 10-8 through Example 10-11</a:t>
            </a:r>
          </a:p>
        </p:txBody>
      </p:sp>
    </p:spTree>
    <p:extLst>
      <p:ext uri="{BB962C8B-B14F-4D97-AF65-F5344CB8AC3E}">
        <p14:creationId xmlns:p14="http://schemas.microsoft.com/office/powerpoint/2010/main" val="22259470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Inline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371145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u="sng" dirty="0"/>
              <a:t>inline function definition</a:t>
            </a:r>
            <a:r>
              <a:rPr lang="en-US" dirty="0"/>
              <a:t> is a member function definition given completely in the definition of the class</a:t>
            </a:r>
          </a:p>
          <a:p>
            <a:pPr lvl="1"/>
            <a:r>
              <a:rPr lang="en-US" dirty="0"/>
              <a:t>Saves the overhead of a function invocation</a:t>
            </a:r>
          </a:p>
          <a:p>
            <a:r>
              <a:rPr lang="en-US" dirty="0"/>
              <a:t>Very short definitions should be defined as inline functions</a:t>
            </a:r>
          </a:p>
        </p:txBody>
      </p:sp>
    </p:spTree>
    <p:extLst>
      <p:ext uri="{BB962C8B-B14F-4D97-AF65-F5344CB8AC3E}">
        <p14:creationId xmlns:p14="http://schemas.microsoft.com/office/powerpoint/2010/main" val="37451568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0" y="410490"/>
            <a:ext cx="8026400" cy="287771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altLang="en-US" dirty="0"/>
              <a:t> Members of a Class (1 of 2)</a:t>
            </a:r>
          </a:p>
        </p:txBody>
      </p:sp>
      <p:sp>
        <p:nvSpPr>
          <p:cNvPr id="57347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062103"/>
          </a:xfrm>
        </p:spPr>
        <p:txBody>
          <a:bodyPr/>
          <a:lstStyle/>
          <a:p>
            <a:pPr eaLnBrk="1" hangingPunct="1"/>
            <a:r>
              <a:rPr lang="en-US" altLang="en-US" dirty="0"/>
              <a:t>Use the keyword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static</a:t>
            </a:r>
            <a:r>
              <a:rPr lang="en-US" altLang="en-US" dirty="0"/>
              <a:t> to declare a function or variable of a class as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static</a:t>
            </a:r>
          </a:p>
          <a:p>
            <a:pPr eaLnBrk="1" hangingPunct="1"/>
            <a:r>
              <a:rPr lang="en-US" altLang="en-US" dirty="0"/>
              <a:t>A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public static </a:t>
            </a:r>
            <a:r>
              <a:rPr lang="en-US" altLang="en-US" dirty="0"/>
              <a:t>function or member of a class can be accessed using the class name and the scope resolution operator</a:t>
            </a:r>
          </a:p>
          <a:p>
            <a:pPr eaLnBrk="1" hangingPunct="1"/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static</a:t>
            </a:r>
            <a:r>
              <a:rPr lang="en-US" altLang="en-US" dirty="0"/>
              <a:t> member variables of a class exist even if no object of that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class</a:t>
            </a:r>
            <a:r>
              <a:rPr lang="en-US" altLang="en-US" dirty="0"/>
              <a:t> type exists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>
          <a:xfrm>
            <a:off x="762000" y="404142"/>
            <a:ext cx="8026400" cy="300467"/>
          </a:xfrm>
        </p:spPr>
        <p:txBody>
          <a:bodyPr/>
          <a:lstStyle/>
          <a:p>
            <a:r>
              <a:rPr lang="en-US" altLang="en-US" dirty="0">
                <a:solidFill>
                  <a:srgbClr val="055C9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altLang="en-US" dirty="0">
                <a:solidFill>
                  <a:srgbClr val="055C91"/>
                </a:solidFill>
              </a:rPr>
              <a:t> </a:t>
            </a:r>
            <a:r>
              <a:rPr lang="en-US" altLang="en-US" dirty="0"/>
              <a:t>Members of a Class (2 of 2)</a:t>
            </a:r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031051"/>
          </a:xfrm>
        </p:spPr>
        <p:txBody>
          <a:bodyPr/>
          <a:lstStyle/>
          <a:p>
            <a:pPr eaLnBrk="1" hangingPunct="1"/>
            <a:r>
              <a:rPr lang="en-US" altLang="en-US" dirty="0"/>
              <a:t>Multiple objects of a class each have their own copy of non-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static</a:t>
            </a:r>
            <a:r>
              <a:rPr lang="en-US" altLang="en-US" dirty="0"/>
              <a:t> member variables</a:t>
            </a:r>
          </a:p>
          <a:p>
            <a:pPr eaLnBrk="1" hangingPunct="1"/>
            <a:r>
              <a:rPr lang="en-US" altLang="en-US" dirty="0"/>
              <a:t>All objects of a class share any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altLang="en-US" dirty="0"/>
              <a:t> member of the class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Quick Review (1 of 3)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157514"/>
          </a:xfrm>
        </p:spPr>
        <p:txBody>
          <a:bodyPr/>
          <a:lstStyle/>
          <a:p>
            <a:pPr eaLnBrk="1" hangingPunct="1"/>
            <a:r>
              <a:rPr lang="en-US" altLang="en-US" dirty="0"/>
              <a:t>A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dirty="0"/>
              <a:t> is a collection of a fixed number of components</a:t>
            </a:r>
          </a:p>
          <a:p>
            <a:r>
              <a:rPr lang="en-US" altLang="en-US" dirty="0"/>
              <a:t>Components of a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dirty="0"/>
              <a:t> are called the members of the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</a:p>
          <a:p>
            <a:pPr lvl="1" eaLnBrk="1" hangingPunct="1"/>
            <a:r>
              <a:rPr lang="en-US" altLang="en-US" dirty="0"/>
              <a:t>Accessed by name</a:t>
            </a:r>
          </a:p>
          <a:p>
            <a:pPr lvl="1" eaLnBrk="1" hangingPunct="1"/>
            <a:r>
              <a:rPr lang="en-US" altLang="en-US" dirty="0"/>
              <a:t>Classified into one of three categories: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private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protected</a:t>
            </a:r>
            <a:r>
              <a:rPr lang="en-US" altLang="en-US" dirty="0"/>
              <a:t>, and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public</a:t>
            </a:r>
            <a:endParaRPr lang="en-US" altLang="en-US" b="1" dirty="0">
              <a:solidFill>
                <a:srgbClr val="638DAD"/>
              </a:solidFill>
            </a:endParaRPr>
          </a:p>
          <a:p>
            <a:pPr eaLnBrk="1" hangingPunct="1"/>
            <a:r>
              <a:rPr lang="en-US" altLang="en-US" dirty="0"/>
              <a:t>In C++,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dirty="0"/>
              <a:t> variables are called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dirty="0"/>
              <a:t> objects or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dirty="0"/>
              <a:t> instances or, simply, objects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Quick Review (2 of 3)</a:t>
            </a:r>
          </a:p>
        </p:txBody>
      </p:sp>
      <p:sp>
        <p:nvSpPr>
          <p:cNvPr id="78853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497607"/>
          </a:xfrm>
        </p:spPr>
        <p:txBody>
          <a:bodyPr/>
          <a:lstStyle/>
          <a:p>
            <a:r>
              <a:rPr lang="en-US" dirty="0"/>
              <a:t>The only built-in operations on classes are assignment and member selection</a:t>
            </a:r>
          </a:p>
          <a:p>
            <a:r>
              <a:rPr lang="en-US" dirty="0"/>
              <a:t>Constructors guarantee that data members are initialized when an object is declared</a:t>
            </a:r>
          </a:p>
          <a:p>
            <a:pPr lvl="1"/>
            <a:r>
              <a:rPr lang="en-US" dirty="0"/>
              <a:t>A default constructor has no parameters</a:t>
            </a:r>
          </a:p>
          <a:p>
            <a:r>
              <a:rPr lang="en-US" dirty="0"/>
              <a:t>The destructor automatically executes when a class object goes out of scope</a:t>
            </a:r>
          </a:p>
          <a:p>
            <a:pPr lvl="1"/>
            <a:r>
              <a:rPr lang="en-US" dirty="0"/>
              <a:t>A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dirty="0"/>
              <a:t> can have only one destructor</a:t>
            </a:r>
          </a:p>
          <a:p>
            <a:pPr lvl="1"/>
            <a:r>
              <a:rPr lang="en-US" dirty="0"/>
              <a:t>The destructor has no parameters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Quick Review (3 of 3)</a:t>
            </a:r>
          </a:p>
        </p:txBody>
      </p:sp>
      <p:sp>
        <p:nvSpPr>
          <p:cNvPr id="79877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508379"/>
          </a:xfrm>
        </p:spPr>
        <p:txBody>
          <a:bodyPr/>
          <a:lstStyle/>
          <a:p>
            <a:r>
              <a:rPr lang="en-US" dirty="0"/>
              <a:t>An abstract data type (ADT) is a data type that separates the logical properties from the implementation details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static </a:t>
            </a:r>
            <a:r>
              <a:rPr lang="en-US" dirty="0"/>
              <a:t>member, function or data, of a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dirty="0"/>
              <a:t> can be accessed using the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dirty="0"/>
              <a:t> name and the scope resolution operator,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</a:p>
          <a:p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dirty="0"/>
              <a:t> member variables of a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dirty="0"/>
              <a:t> exist even when no object of the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dirty="0"/>
              <a:t> type exists</a:t>
            </a:r>
          </a:p>
          <a:p>
            <a:r>
              <a:rPr lang="en-US" dirty="0"/>
              <a:t>Instance variables are non-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dirty="0"/>
              <a:t> data members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lik_cpp">
  <a:themeElements>
    <a:clrScheme name="Cengage">
      <a:dk1>
        <a:srgbClr val="000000"/>
      </a:dk1>
      <a:lt1>
        <a:srgbClr val="FFFFFF"/>
      </a:lt1>
      <a:dk2>
        <a:srgbClr val="000000"/>
      </a:dk2>
      <a:lt2>
        <a:srgbClr val="AAAEB4"/>
      </a:lt2>
      <a:accent1>
        <a:srgbClr val="0D3857"/>
      </a:accent1>
      <a:accent2>
        <a:srgbClr val="055C91"/>
      </a:accent2>
      <a:accent3>
        <a:srgbClr val="81C0DA"/>
      </a:accent3>
      <a:accent4>
        <a:srgbClr val="B0D3DF"/>
      </a:accent4>
      <a:accent5>
        <a:srgbClr val="E0DCCD"/>
      </a:accent5>
      <a:accent6>
        <a:srgbClr val="7C7666"/>
      </a:accent6>
      <a:hlink>
        <a:srgbClr val="055C91"/>
      </a:hlink>
      <a:folHlink>
        <a:srgbClr val="81C0DA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1945</TotalTime>
  <Words>2374</Words>
  <Application>Microsoft Office PowerPoint</Application>
  <PresentationFormat>On-screen Show (4:3)</PresentationFormat>
  <Paragraphs>289</Paragraphs>
  <Slides>48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Arial</vt:lpstr>
      <vt:lpstr>Calibri</vt:lpstr>
      <vt:lpstr>Calibri Light</vt:lpstr>
      <vt:lpstr>Courier New</vt:lpstr>
      <vt:lpstr>Wingdings</vt:lpstr>
      <vt:lpstr>Malik_cpp</vt:lpstr>
      <vt:lpstr>Week 1</vt:lpstr>
      <vt:lpstr>Objectives (1 of 2)</vt:lpstr>
      <vt:lpstr>Objectives (2 of 2)</vt:lpstr>
      <vt:lpstr>Classes (1 of 4)</vt:lpstr>
      <vt:lpstr>Classes (2 of 4)</vt:lpstr>
      <vt:lpstr>Classes (3 of 4)</vt:lpstr>
      <vt:lpstr>Classes (4 of 4)</vt:lpstr>
      <vt:lpstr>Unified Modeling Language Class Diagrams (1 of 2)</vt:lpstr>
      <vt:lpstr>Unified Modeling Language Class Diagrams (2 of 2)</vt:lpstr>
      <vt:lpstr>Variable (Object) Declaration</vt:lpstr>
      <vt:lpstr>Accessing Class Members</vt:lpstr>
      <vt:lpstr>Built-in Operations on Classes</vt:lpstr>
      <vt:lpstr>Assignment Operator and Classes</vt:lpstr>
      <vt:lpstr>Class Scope (1 of 2)</vt:lpstr>
      <vt:lpstr>Class Scope (2 of 2)</vt:lpstr>
      <vt:lpstr>Functions and Classes</vt:lpstr>
      <vt:lpstr>Reference Parameters and Class Objects (Variables) (1 of 2)</vt:lpstr>
      <vt:lpstr>Reference Parameters and Class Objects (Variables) (2 of 2)</vt:lpstr>
      <vt:lpstr>Implementation of Member Functions (1 of 4)</vt:lpstr>
      <vt:lpstr>Implementation of Member Functions (2 of 4)</vt:lpstr>
      <vt:lpstr>Implementation of Member Functions (3 of 4)</vt:lpstr>
      <vt:lpstr>Implementation of Member Functions (4 of 4)</vt:lpstr>
      <vt:lpstr>Accessor and Mutator Functions</vt:lpstr>
      <vt:lpstr>Order of public and private Members of a Class</vt:lpstr>
      <vt:lpstr>Constructors (1 of 2)</vt:lpstr>
      <vt:lpstr>Constructors (2 of 2)</vt:lpstr>
      <vt:lpstr>Invoking a Constructor</vt:lpstr>
      <vt:lpstr>Invoking the Default Constructor</vt:lpstr>
      <vt:lpstr>Invoking a Constructor with Parameters</vt:lpstr>
      <vt:lpstr>Constructors and Default Parameters</vt:lpstr>
      <vt:lpstr>Classes and Constructors: A Precaution</vt:lpstr>
      <vt:lpstr>In-line Initialization of Data Members and the Default Constructor</vt:lpstr>
      <vt:lpstr>Arrays of Class Objects (Variables) and Constructors</vt:lpstr>
      <vt:lpstr>Destructors</vt:lpstr>
      <vt:lpstr>Data Abstract, Classes, and Abstract Data Types</vt:lpstr>
      <vt:lpstr>A struct versus a class (1 of 2)</vt:lpstr>
      <vt:lpstr>A struct versus a class (2 of 2)</vt:lpstr>
      <vt:lpstr>Information Hiding (1 of 3)</vt:lpstr>
      <vt:lpstr>Information Hiding (2 of 3)</vt:lpstr>
      <vt:lpstr>Information Hiding (3 of 3)</vt:lpstr>
      <vt:lpstr>Executable Code</vt:lpstr>
      <vt:lpstr>More Examples of Classes</vt:lpstr>
      <vt:lpstr>Inline Functions</vt:lpstr>
      <vt:lpstr>static Members of a Class (1 of 2)</vt:lpstr>
      <vt:lpstr>static Members of a Class (2 of 2)</vt:lpstr>
      <vt:lpstr>Quick Review (1 of 3)</vt:lpstr>
      <vt:lpstr>Quick Review (2 of 3)</vt:lpstr>
      <vt:lpstr>Quick Review (3 of 3)</vt:lpstr>
    </vt:vector>
  </TitlesOfParts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Programming:   Program Design Including  Data Structures, Fifth Edition</dc:title>
  <dc:creator>Ang</dc:creator>
  <cp:lastModifiedBy>oraclelai@yahoo.com</cp:lastModifiedBy>
  <cp:revision>268</cp:revision>
  <cp:lastPrinted>2009-04-22T19:24:48Z</cp:lastPrinted>
  <dcterms:created xsi:type="dcterms:W3CDTF">2002-08-17T01:02:10Z</dcterms:created>
  <dcterms:modified xsi:type="dcterms:W3CDTF">2023-03-24T04:20:11Z</dcterms:modified>
</cp:coreProperties>
</file>